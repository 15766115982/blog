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presProps.xml" Type="http://schemas.openxmlformats.org/officeDocument/2006/relationships/pres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38" Target="notesSlides/notesSlide15.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"Good morning/afternoon, everyone. Today, I'm going to talk about the evaluation and metrics of multi-agent systems, which is a crucial and evolving field in AI research. This presentation will give you an overview of the methods we use and the challenges we face."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Here's a quick overview of what we'll cover today. We'll start by comparing agent testing with traditional software testing, then dive into the specific methods we use, followed by the key metrics for evaluation, and finally discuss the challenges and potential solutions.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First, let's understand how testing multi-agent systems differs from testing traditional software.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core difference lies in determinism and environment. Traditional software is predictable and operates in a static world. Multi-agent systems, however, are non-deterministic, exhibit emergent behavior, and function in dynamic environments, making them much harder to test.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Now, let's look at the three-tiered pyramid model we use for agent testing in our project, which consists of E2E at the top, Agent Trajectory in the middle, and Component Unit Testing at the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second layer is Agent Trajectory Evaluation. This layer dives deep into the agent's internal processes, specifically evaluating its reasoning, action selection, and execution. We draw on metrics from popular open-source frameworks like Deepeval, Ragas, and Opik to assess the quality of these layers.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At the top of our pyramid is E2E Evaluation. This method combines two approaches: comparing against a known ground truth for objective results, and using a rubric driven by specific requirements and bug scenarios to conduct a more comprehensive and practical assessment.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third method is Agent Capability Evaluation. Instead of looking at the whole task, we break it down to test specific skills like planning or reasoning. This helps us pinpoint exactly where an agent might be struggling, though it might not capture how these skills work together in a real task.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Once we have our testing methods, we need metrics to quantify the results. Let's look at some key metrics we 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Two fundamental metrics are Task Completion and Argument Correctness. Task Completion tells us if the agent got the job done, while Argument Correctness assesses the quality of its reasoning, which is crucial for explainability and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also look at metrics related to the agent's planning and execution. Plan Quality measures how good the strategy is, Plan Adherence checks if the agent sticks to its plan, and Step Efficiency tells us how resourceful it is in completing the task.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"Despite these methods and metrics, we still face significant challenges in evaluating multi-agent systems. Let's discuss one major challenge and a potential solution."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 key challenge is bug quantification. In complex systems, bugs are often elusive and don't follow a simple pattern. Counting them doesn't tell us how severe they are or how much they affect the system's goals. We need a better way to measure this.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proposed solution is Rubric-based Evaluation. By creating a detailed scoring guide, or rubric, we can evaluate each bug or requirement against multiple criteria like severity, impact, and frequency. This gives us a more precise and consistent way to quantify problems and prioritize fixes.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 summarize, evaluating multi-agent systems is a complex task that demands specialized methods and metrics. We've explored the key differences from traditional testing, the main evaluation approaches, and the critical metrics. We also highlighted the challenge of bug quantification and proposed rubric-based evaluation as a solution. Thank you for your attention, and I'll now take any questions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22.png" Type="http://schemas.openxmlformats.org/officeDocument/2006/relationships/image"/><Relationship Id="rId13" Target="../media/image23.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notesSlides/notesSlide4.xml" Type="http://schemas.openxmlformats.org/officeDocument/2006/relationships/notesSlide"/><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6.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1.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8.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jpe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48.jpe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11" Target="../media/image53.pn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635000" y="1651000"/>
            <a:ext cx="10922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C0392B"/>
                </a:solidFill>
                <a:latin typeface="Arial"/>
                <a:ea typeface="Arial"/>
                <a:cs typeface="Arial"/>
                <a:sym typeface="Arial"/>
              </a:rPr>
              <a:t>Multi-Agent System Evaluation and Metrics</a:t>
            </a:r>
            <a:endParaRPr lang="en-US" sz="1100"/>
          </a:p>
        </p:txBody>
      </p:sp>
      <p:sp>
        <p:nvSpPr>
          <p:cNvPr name="AutoShape 4" id="4"/>
          <p:cNvSpPr/>
          <p:nvPr/>
        </p:nvSpPr>
        <p:spPr>
          <a:xfrm rot="0" flipH="false" flipV="false">
            <a:off x="5715000" y="3048000"/>
            <a:ext cx="76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35000" y="3302000"/>
            <a:ext cx="10922000" cy="7620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false" i="false" strike="noStrike" u="none" sz="2000">
                <a:solidFill>
                  <a:srgbClr val="34495E"/>
                </a:solidFill>
                <a:latin typeface="Arial"/>
                <a:ea typeface="Arial"/>
                <a:cs typeface="Arial"/>
                <a:sym typeface="Arial"/>
              </a:rPr>
              <a:t>An Overview of Methods and Challenges</a:t>
            </a:r>
            <a:endParaRPr lang="en-US" sz="1100"/>
          </a:p>
        </p:txBody>
      </p:sp>
      <p:sp>
        <p:nvSpPr>
          <p:cNvPr name="AutoShape 6" id="6"/>
          <p:cNvSpPr/>
          <p:nvPr/>
        </p:nvSpPr>
        <p:spPr>
          <a:xfrm rot="0" flipH="false" flipV="false">
            <a:off x="635000" y="5461000"/>
            <a:ext cx="10922000" cy="635000"/>
          </a:xfrm>
          <a:prstGeom prst="rect">
            <a:avLst/>
          </a:prstGeom>
          <a:noFill/>
          <a:ln w="12700" cmpd="sng" cap="flat">
            <a:noFill/>
            <a:prstDash val="solid"/>
            <a:round/>
          </a:ln>
        </p:spPr>
        <p:txBody>
          <a:bodyPr anchor="b" rtlCol="false" anchorCtr="false" vert="horz" wrap="square" lIns="0" rIns="0" tIns="0" bIns="0"/>
          <a:lstStyle/>
          <a:p>
            <a:pPr algn="ctr" indent="0">
              <a:lnSpc>
                <a:spcPct val="125000"/>
              </a:lnSpc>
              <a:defRPr/>
            </a:pPr>
            <a:r>
              <a:rPr lang="en-US" b="false" i="false" strike="noStrike" u="none" sz="1400">
                <a:solidFill>
                  <a:srgbClr val="7F8C8D"/>
                </a:solidFill>
                <a:latin typeface="Arial"/>
                <a:ea typeface="Arial"/>
                <a:cs typeface="Arial"/>
                <a:sym typeface="Arial"/>
              </a:rPr>
              <a:t>Speaker: [Your Name]  |  Date: [Current Date]</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Agenda</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00" cy="1270000"/>
          </a:xfrm>
          <a:prstGeom prst="roundRect">
            <a:avLst>
              <a:gd name="adj" fmla="val 10000"/>
            </a:avLst>
          </a:prstGeom>
          <a:solidFill>
            <a:srgbClr val="F8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8" id="8"/>
          <p:cNvSpPr/>
          <p:nvPr/>
        </p:nvSpPr>
        <p:spPr>
          <a:xfrm rot="0" flipH="false" flipV="false">
            <a:off x="1524000" y="1905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4495E"/>
                </a:solidFill>
                <a:latin typeface="Poppins"/>
                <a:ea typeface="Poppins"/>
                <a:cs typeface="Poppins"/>
                <a:sym typeface="Poppins"/>
              </a:rPr>
              <a:t>Agent vs. Traditional Testing</a:t>
            </a:r>
            <a:endParaRPr lang="en-US" sz="1100"/>
          </a:p>
        </p:txBody>
      </p:sp>
      <p:sp>
        <p:nvSpPr>
          <p:cNvPr name="AutoShape 9" id="9"/>
          <p:cNvSpPr/>
          <p:nvPr/>
        </p:nvSpPr>
        <p:spPr>
          <a:xfrm rot="0" flipH="false" flipV="false">
            <a:off x="1524000" y="2286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F8C8D"/>
                </a:solidFill>
                <a:latin typeface="Poppins"/>
                <a:ea typeface="Poppins"/>
                <a:cs typeface="Poppins"/>
                <a:sym typeface="Poppins"/>
              </a:rPr>
              <a:t>Understanding the fundamental differences between agent-based and conventional testing approaches.</a:t>
            </a:r>
            <a:endParaRPr lang="en-US" sz="1100"/>
          </a:p>
        </p:txBody>
      </p:sp>
      <p:sp>
        <p:nvSpPr>
          <p:cNvPr name="AutoShape 10" id="10"/>
          <p:cNvSpPr/>
          <p:nvPr/>
        </p:nvSpPr>
        <p:spPr>
          <a:xfrm rot="0" flipH="false" flipV="false">
            <a:off x="6350000" y="1778000"/>
            <a:ext cx="5080000" cy="1270000"/>
          </a:xfrm>
          <a:prstGeom prst="roundRect">
            <a:avLst>
              <a:gd name="adj" fmla="val 10000"/>
            </a:avLst>
          </a:prstGeom>
          <a:solidFill>
            <a:srgbClr val="F8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968500"/>
            <a:ext cx="406400" cy="406400"/>
          </a:xfrm>
          <a:prstGeom prst="rect">
            <a:avLst/>
          </a:prstGeom>
        </p:spPr>
      </p:pic>
      <p:sp>
        <p:nvSpPr>
          <p:cNvPr name="AutoShape 12" id="12"/>
          <p:cNvSpPr/>
          <p:nvPr/>
        </p:nvSpPr>
        <p:spPr>
          <a:xfrm rot="0" flipH="false" flipV="false">
            <a:off x="7112000" y="1905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4495E"/>
                </a:solidFill>
                <a:latin typeface="Poppins"/>
                <a:ea typeface="Poppins"/>
                <a:cs typeface="Poppins"/>
                <a:sym typeface="Poppins"/>
              </a:rPr>
              <a:t>Agent Testing Methods</a:t>
            </a:r>
            <a:endParaRPr lang="en-US" sz="1100"/>
          </a:p>
        </p:txBody>
      </p:sp>
      <p:sp>
        <p:nvSpPr>
          <p:cNvPr name="AutoShape 13" id="13"/>
          <p:cNvSpPr/>
          <p:nvPr/>
        </p:nvSpPr>
        <p:spPr>
          <a:xfrm rot="0" flipH="false" flipV="false">
            <a:off x="7112000" y="2286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F8C8D"/>
                </a:solidFill>
                <a:latin typeface="Poppins"/>
                <a:ea typeface="Poppins"/>
                <a:cs typeface="Poppins"/>
                <a:sym typeface="Poppins"/>
              </a:rPr>
              <a:t>Exploring Ground Truth validation, End-to-End (E2E) testing, and Capability Evaluation frameworks.</a:t>
            </a:r>
            <a:endParaRPr lang="en-US" sz="1100"/>
          </a:p>
        </p:txBody>
      </p:sp>
      <p:sp>
        <p:nvSpPr>
          <p:cNvPr name="AutoShape 14" id="14"/>
          <p:cNvSpPr/>
          <p:nvPr/>
        </p:nvSpPr>
        <p:spPr>
          <a:xfrm rot="0" flipH="false" flipV="false">
            <a:off x="762000" y="3302000"/>
            <a:ext cx="5080000" cy="1270000"/>
          </a:xfrm>
          <a:prstGeom prst="roundRect">
            <a:avLst>
              <a:gd name="adj" fmla="val 10000"/>
            </a:avLst>
          </a:prstGeom>
          <a:solidFill>
            <a:srgbClr val="F8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492500"/>
            <a:ext cx="406400" cy="406400"/>
          </a:xfrm>
          <a:prstGeom prst="rect">
            <a:avLst/>
          </a:prstGeom>
        </p:spPr>
      </p:pic>
      <p:sp>
        <p:nvSpPr>
          <p:cNvPr name="AutoShape 16" id="16"/>
          <p:cNvSpPr/>
          <p:nvPr/>
        </p:nvSpPr>
        <p:spPr>
          <a:xfrm rot="0" flipH="false" flipV="false">
            <a:off x="1524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4495E"/>
                </a:solidFill>
                <a:latin typeface="Poppins"/>
                <a:ea typeface="Poppins"/>
                <a:cs typeface="Poppins"/>
                <a:sym typeface="Poppins"/>
              </a:rPr>
              <a:t>Key Evaluation Metrics</a:t>
            </a:r>
            <a:endParaRPr lang="en-US" sz="1100"/>
          </a:p>
        </p:txBody>
      </p:sp>
      <p:sp>
        <p:nvSpPr>
          <p:cNvPr name="AutoShape 17" id="17"/>
          <p:cNvSpPr/>
          <p:nvPr/>
        </p:nvSpPr>
        <p:spPr>
          <a:xfrm rot="0" flipH="false" flipV="false">
            <a:off x="1524000" y="3810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F8C8D"/>
                </a:solidFill>
                <a:latin typeface="Poppins"/>
                <a:ea typeface="Poppins"/>
                <a:cs typeface="Poppins"/>
                <a:sym typeface="Poppins"/>
              </a:rPr>
              <a:t>Defining critical metrics including Task Completion Rate and Plan Quality Assessment.</a:t>
            </a:r>
            <a:endParaRPr lang="en-US" sz="1100"/>
          </a:p>
        </p:txBody>
      </p:sp>
      <p:sp>
        <p:nvSpPr>
          <p:cNvPr name="AutoShape 18" id="18"/>
          <p:cNvSpPr/>
          <p:nvPr/>
        </p:nvSpPr>
        <p:spPr>
          <a:xfrm rot="0" flipH="false" flipV="false">
            <a:off x="6350000" y="3302000"/>
            <a:ext cx="5080000" cy="1270000"/>
          </a:xfrm>
          <a:prstGeom prst="roundRect">
            <a:avLst>
              <a:gd name="adj" fmla="val 10000"/>
            </a:avLst>
          </a:prstGeom>
          <a:solidFill>
            <a:srgbClr val="F8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492500"/>
            <a:ext cx="406400" cy="406400"/>
          </a:xfrm>
          <a:prstGeom prst="rect">
            <a:avLst/>
          </a:prstGeom>
        </p:spPr>
      </p:pic>
      <p:sp>
        <p:nvSpPr>
          <p:cNvPr name="AutoShape 20" id="20"/>
          <p:cNvSpPr/>
          <p:nvPr/>
        </p:nvSpPr>
        <p:spPr>
          <a:xfrm rot="0" flipH="false" flipV="false">
            <a:off x="7112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4495E"/>
                </a:solidFill>
                <a:latin typeface="Poppins"/>
                <a:ea typeface="Poppins"/>
                <a:cs typeface="Poppins"/>
                <a:sym typeface="Poppins"/>
              </a:rPr>
              <a:t>Challenges &amp; Solutions</a:t>
            </a:r>
            <a:endParaRPr lang="en-US" sz="1100"/>
          </a:p>
        </p:txBody>
      </p:sp>
      <p:sp>
        <p:nvSpPr>
          <p:cNvPr name="AutoShape 21" id="21"/>
          <p:cNvSpPr/>
          <p:nvPr/>
        </p:nvSpPr>
        <p:spPr>
          <a:xfrm rot="0" flipH="false" flipV="false">
            <a:off x="7112000" y="38100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F8C8D"/>
                </a:solidFill>
                <a:latin typeface="Poppins"/>
                <a:ea typeface="Poppins"/>
                <a:cs typeface="Poppins"/>
                <a:sym typeface="Poppins"/>
              </a:rPr>
              <a:t>Addressing the issue of bug quantification and variability with structured rubric evaluation.</a:t>
            </a:r>
            <a:endParaRPr lang="en-US" sz="1100"/>
          </a:p>
        </p:txBody>
      </p:sp>
      <p:sp>
        <p:nvSpPr>
          <p:cNvPr name="AutoShape 22" id="22"/>
          <p:cNvSpPr/>
          <p:nvPr/>
        </p:nvSpPr>
        <p:spPr>
          <a:xfrm rot="0" flipH="false" flipV="false">
            <a:off x="0" y="6781800"/>
            <a:ext cx="12192000" cy="762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8333" r="8333" t="8333" b="8333"/>
          <a:stretch>
            <a:fillRect/>
          </a:stretch>
        </p:blipFill>
        <p:spPr>
          <a:xfrm rot="0" flipH="false" flipV="false">
            <a:off x="5334000" y="1016000"/>
            <a:ext cx="1524000" cy="857250"/>
          </a:xfrm>
          <a:prstGeom prst="roundRect">
            <a:avLst>
              <a:gd name="adj" fmla="val 14814"/>
            </a:avLst>
          </a:prstGeom>
          <a:noFill/>
          <a:ln w="25400" cmpd="sng" cap="flat">
            <a:noFill/>
            <a:prstDash val="solid"/>
            <a:round/>
          </a:ln>
        </p:spPr>
      </p:pic>
      <p:sp>
        <p:nvSpPr>
          <p:cNvPr name="AutoShape 3" id="3"/>
          <p:cNvSpPr/>
          <p:nvPr/>
        </p:nvSpPr>
        <p:spPr>
          <a:xfrm rot="0" flipH="false" flipV="false">
            <a:off x="25400" y="2286000"/>
            <a:ext cx="121285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800">
                <a:solidFill>
                  <a:srgbClr val="C0392B"/>
                </a:solidFill>
                <a:latin typeface="Noto Sans SC"/>
                <a:ea typeface="Noto Sans SC"/>
                <a:cs typeface="Noto Sans SC"/>
                <a:sym typeface="Noto Sans SC"/>
              </a:rPr>
              <a:t>1. Agent vs Traditional Testing</a:t>
            </a:r>
            <a:endParaRPr lang="en-US" sz="1100"/>
          </a:p>
        </p:txBody>
      </p:sp>
      <p:sp>
        <p:nvSpPr>
          <p:cNvPr name="AutoShape 4" id="4"/>
          <p:cNvSpPr/>
          <p:nvPr/>
        </p:nvSpPr>
        <p:spPr>
          <a:xfrm rot="0" flipH="false" flipV="false">
            <a:off x="5461000" y="3048000"/>
            <a:ext cx="1270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330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spc="200">
                <a:solidFill>
                  <a:srgbClr val="34495E"/>
                </a:solidFill>
                <a:latin typeface="Noto Sans SC"/>
                <a:ea typeface="Noto Sans SC"/>
                <a:cs typeface="Noto Sans SC"/>
                <a:sym typeface="Noto Sans SC"/>
              </a:rPr>
              <a:t>COMPARISON ANALYSIS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70358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Key Differences</a:t>
            </a:r>
            <a:endParaRPr lang="en-US" sz="1100"/>
          </a:p>
        </p:txBody>
      </p:sp>
      <p:sp>
        <p:nvSpPr>
          <p:cNvPr name="AutoShape 3" id="3"/>
          <p:cNvSpPr/>
          <p:nvPr/>
        </p:nvSpPr>
        <p:spPr>
          <a:xfrm rot="0" flipH="false" flipV="false">
            <a:off x="762000" y="1206500"/>
            <a:ext cx="10668000" cy="381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0" y="1651000"/>
            <a:ext cx="25400" cy="3810000"/>
          </a:xfrm>
          <a:prstGeom prst="roundRect">
            <a:avLst>
              <a:gd name="adj" fmla="val 0"/>
            </a:avLst>
          </a:prstGeom>
          <a:solidFill>
            <a:srgbClr val="C0392B">
              <a:alpha val="3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srcRect l="0" r="0" t="0" b="0"/>
          <a:stretch>
            <a:fillRect/>
          </a:stretch>
        </p:blipFill>
        <p:spPr>
          <a:xfrm rot="0" flipH="false" flipV="false">
            <a:off x="2032000" y="1524000"/>
            <a:ext cx="1524000" cy="1524000"/>
          </a:xfrm>
          <a:prstGeom prst="rect">
            <a:avLst/>
          </a:prstGeom>
          <a:noFill/>
          <a:ln w="25400" cmpd="sng" cap="flat">
            <a:noFill/>
            <a:prstDash val="solid"/>
            <a:round/>
          </a:ln>
        </p:spPr>
      </p:pic>
      <p:sp>
        <p:nvSpPr>
          <p:cNvPr name="AutoShape 6" id="6"/>
          <p:cNvSpPr/>
          <p:nvPr/>
        </p:nvSpPr>
        <p:spPr>
          <a:xfrm rot="0" flipH="false" flipV="false">
            <a:off x="762000" y="3175000"/>
            <a:ext cx="4064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C0392B"/>
                </a:solidFill>
                <a:latin typeface="Poppins"/>
                <a:ea typeface="Poppins"/>
                <a:cs typeface="Poppins"/>
                <a:sym typeface="Poppins"/>
              </a:rPr>
              <a:t>Traditional Software Testing</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89000" y="3810000"/>
            <a:ext cx="254000" cy="254000"/>
          </a:xfrm>
          <a:prstGeom prst="rect">
            <a:avLst/>
          </a:prstGeom>
        </p:spPr>
      </p:pic>
      <p:sp>
        <p:nvSpPr>
          <p:cNvPr name="AutoShape 8" id="8"/>
          <p:cNvSpPr/>
          <p:nvPr/>
        </p:nvSpPr>
        <p:spPr>
          <a:xfrm rot="0" flipH="false" flipV="false">
            <a:off x="1270000" y="37592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Deterministic:</a:t>
            </a:r>
            <a:r>
              <a:rPr lang="en-US" b="false" i="false" strike="noStrike" u="none" sz="1400">
                <a:solidFill>
                  <a:srgbClr val="646464"/>
                </a:solidFill>
                <a:latin typeface="Poppins"/>
                <a:ea typeface="Poppins"/>
                <a:cs typeface="Poppins"/>
                <a:sym typeface="Poppins"/>
              </a:rPr>
              <a:t>Behavior is predictable.</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89000" y="4381500"/>
            <a:ext cx="254000" cy="254000"/>
          </a:xfrm>
          <a:prstGeom prst="rect">
            <a:avLst/>
          </a:prstGeom>
        </p:spPr>
      </p:pic>
      <p:sp>
        <p:nvSpPr>
          <p:cNvPr name="AutoShape 10" id="10"/>
          <p:cNvSpPr/>
          <p:nvPr/>
        </p:nvSpPr>
        <p:spPr>
          <a:xfrm rot="0" flipH="false" flipV="false">
            <a:off x="1270000" y="43307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Predefined Paths:</a:t>
            </a:r>
            <a:r>
              <a:rPr lang="en-US" b="false" i="false" strike="noStrike" u="none" sz="1400">
                <a:solidFill>
                  <a:srgbClr val="646464"/>
                </a:solidFill>
                <a:latin typeface="Poppins"/>
                <a:ea typeface="Poppins"/>
                <a:cs typeface="Poppins"/>
                <a:sym typeface="Poppins"/>
              </a:rPr>
              <a:t>Follows a fixed execution flow.</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89000" y="4953000"/>
            <a:ext cx="254000" cy="254000"/>
          </a:xfrm>
          <a:prstGeom prst="rect">
            <a:avLst/>
          </a:prstGeom>
        </p:spPr>
      </p:pic>
      <p:sp>
        <p:nvSpPr>
          <p:cNvPr name="AutoShape 12" id="12"/>
          <p:cNvSpPr/>
          <p:nvPr/>
        </p:nvSpPr>
        <p:spPr>
          <a:xfrm rot="0" flipH="false" flipV="false">
            <a:off x="1270000" y="49022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Static Environment:</a:t>
            </a:r>
            <a:r>
              <a:rPr lang="en-US" b="false" i="false" strike="noStrike" u="none" sz="1400">
                <a:solidFill>
                  <a:srgbClr val="646464"/>
                </a:solidFill>
                <a:latin typeface="Poppins"/>
                <a:ea typeface="Poppins"/>
                <a:cs typeface="Poppins"/>
                <a:sym typeface="Poppins"/>
              </a:rPr>
              <a:t>Operates in a controlled setting.</a:t>
            </a:r>
            <a:endParaRPr lang="en-US" sz="1100"/>
          </a:p>
        </p:txBody>
      </p:sp>
      <p:pic>
        <p:nvPicPr>
          <p:cNvPr name="Picture 13" id="13"/>
          <p:cNvPicPr>
            <a:picLocks noChangeAspect="true"/>
          </p:cNvPicPr>
          <p:nvPr/>
        </p:nvPicPr>
        <p:blipFill>
          <a:blip r:embed="rId9"/>
          <a:srcRect l="0" r="0" t="0" b="0"/>
          <a:stretch>
            <a:fillRect/>
          </a:stretch>
        </p:blipFill>
        <p:spPr>
          <a:xfrm rot="0" flipH="false" flipV="false">
            <a:off x="7620000" y="1524000"/>
            <a:ext cx="1524000" cy="1524000"/>
          </a:xfrm>
          <a:prstGeom prst="rect">
            <a:avLst/>
          </a:prstGeom>
          <a:noFill/>
          <a:ln w="25400" cmpd="sng" cap="flat">
            <a:noFill/>
            <a:prstDash val="solid"/>
            <a:round/>
          </a:ln>
        </p:spPr>
      </p:pic>
      <p:sp>
        <p:nvSpPr>
          <p:cNvPr name="AutoShape 14" id="14"/>
          <p:cNvSpPr/>
          <p:nvPr/>
        </p:nvSpPr>
        <p:spPr>
          <a:xfrm rot="0" flipH="false" flipV="false">
            <a:off x="6350000" y="3175000"/>
            <a:ext cx="4064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C0392B"/>
                </a:solidFill>
                <a:latin typeface="Poppins"/>
                <a:ea typeface="Poppins"/>
                <a:cs typeface="Poppins"/>
                <a:sym typeface="Poppins"/>
              </a:rPr>
              <a:t>Multi-Agent System Testing</a:t>
            </a:r>
            <a:endParaRPr lang="en-US" sz="1100"/>
          </a:p>
        </p:txBody>
      </p:sp>
      <p:pic>
        <p:nvPicPr>
          <p:cNvPr name="Picture 15" id="1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3810000"/>
            <a:ext cx="254000" cy="254000"/>
          </a:xfrm>
          <a:prstGeom prst="rect">
            <a:avLst/>
          </a:prstGeom>
        </p:spPr>
      </p:pic>
      <p:sp>
        <p:nvSpPr>
          <p:cNvPr name="AutoShape 16" id="16"/>
          <p:cNvSpPr/>
          <p:nvPr/>
        </p:nvSpPr>
        <p:spPr>
          <a:xfrm rot="0" flipH="false" flipV="false">
            <a:off x="6858000" y="37592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Non-Deterministic:</a:t>
            </a:r>
            <a:r>
              <a:rPr lang="en-US" b="false" i="false" strike="noStrike" u="none" sz="1400">
                <a:solidFill>
                  <a:srgbClr val="646464"/>
                </a:solidFill>
                <a:latin typeface="Poppins"/>
                <a:ea typeface="Poppins"/>
                <a:cs typeface="Poppins"/>
                <a:sym typeface="Poppins"/>
              </a:rPr>
              <a:t>Outcomes vary due to interactions.</a:t>
            </a:r>
            <a:endParaRPr lang="en-US" sz="1100"/>
          </a:p>
        </p:txBody>
      </p:sp>
      <p:pic>
        <p:nvPicPr>
          <p:cNvPr name="Picture 17" id="1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77000" y="4381500"/>
            <a:ext cx="254000" cy="254000"/>
          </a:xfrm>
          <a:prstGeom prst="rect">
            <a:avLst/>
          </a:prstGeom>
        </p:spPr>
      </p:pic>
      <p:sp>
        <p:nvSpPr>
          <p:cNvPr name="AutoShape 18" id="18"/>
          <p:cNvSpPr/>
          <p:nvPr/>
        </p:nvSpPr>
        <p:spPr>
          <a:xfrm rot="0" flipH="false" flipV="false">
            <a:off x="6858000" y="43307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Emergent Behavior:</a:t>
            </a:r>
            <a:r>
              <a:rPr lang="en-US" b="false" i="false" strike="noStrike" u="none" sz="1400">
                <a:solidFill>
                  <a:srgbClr val="646464"/>
                </a:solidFill>
                <a:latin typeface="Poppins"/>
                <a:ea typeface="Poppins"/>
                <a:cs typeface="Poppins"/>
                <a:sym typeface="Poppins"/>
              </a:rPr>
              <a:t>Unpredictable from collaboration.</a:t>
            </a:r>
            <a:endParaRPr lang="en-US" sz="1100"/>
          </a:p>
        </p:txBody>
      </p:sp>
      <p:pic>
        <p:nvPicPr>
          <p:cNvPr name="Picture 19" id="1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477000" y="4953000"/>
            <a:ext cx="254000" cy="254000"/>
          </a:xfrm>
          <a:prstGeom prst="rect">
            <a:avLst/>
          </a:prstGeom>
        </p:spPr>
      </p:pic>
      <p:sp>
        <p:nvSpPr>
          <p:cNvPr name="AutoShape 20" id="20"/>
          <p:cNvSpPr/>
          <p:nvPr/>
        </p:nvSpPr>
        <p:spPr>
          <a:xfrm rot="0" flipH="false" flipV="false">
            <a:off x="6858000" y="49022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34495E"/>
                </a:solidFill>
                <a:latin typeface="Poppins"/>
                <a:ea typeface="Poppins"/>
                <a:cs typeface="Poppins"/>
                <a:sym typeface="Poppins"/>
              </a:rPr>
              <a:t>Dynamic Environment:</a:t>
            </a:r>
            <a:r>
              <a:rPr lang="en-US" b="false" i="false" strike="noStrike" u="none" sz="1400">
                <a:solidFill>
                  <a:srgbClr val="646464"/>
                </a:solidFill>
                <a:latin typeface="Poppins"/>
                <a:ea typeface="Poppins"/>
                <a:cs typeface="Poppins"/>
                <a:sym typeface="Poppins"/>
              </a:rPr>
              <a:t>Operates in a changing world.</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81000" y="1270000"/>
            <a:ext cx="1143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34495E"/>
                </a:solidFill>
                <a:latin typeface="Noto Sans SC"/>
                <a:ea typeface="Noto Sans SC"/>
                <a:cs typeface="Noto Sans SC"/>
                <a:sym typeface="Noto Sans SC"/>
              </a:rPr>
              <a:t>2. Project Agent Testing Pyramid</a:t>
            </a:r>
            <a:endParaRPr lang="en-US" sz="1100"/>
          </a:p>
        </p:txBody>
      </p:sp>
      <p:sp>
        <p:nvSpPr>
          <p:cNvPr name="AutoShape 3" id="3"/>
          <p:cNvSpPr/>
          <p:nvPr/>
        </p:nvSpPr>
        <p:spPr>
          <a:xfrm rot="0" flipH="false" flipV="false">
            <a:off x="4191000" y="2540000"/>
            <a:ext cx="3810000" cy="1016000"/>
          </a:xfrm>
          <a:prstGeom prst="roundRect">
            <a:avLst>
              <a:gd name="adj" fmla="val 0"/>
            </a:avLst>
          </a:prstGeom>
          <a:solidFill>
            <a:srgbClr val="C0392B">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E2E (End-to-End Evaluation)</a:t>
            </a:r>
            <a:endParaRPr lang="en-US" sz="1100"/>
          </a:p>
        </p:txBody>
      </p:sp>
      <p:sp>
        <p:nvSpPr>
          <p:cNvPr name="AutoShape 4" id="4"/>
          <p:cNvSpPr/>
          <p:nvPr/>
        </p:nvSpPr>
        <p:spPr>
          <a:xfrm rot="0" flipH="false" flipV="false">
            <a:off x="3556000" y="3810000"/>
            <a:ext cx="5080000" cy="1016000"/>
          </a:xfrm>
          <a:prstGeom prst="roundRect">
            <a:avLst>
              <a:gd name="adj" fmla="val 0"/>
            </a:avLst>
          </a:prstGeom>
          <a:solidFill>
            <a:srgbClr val="E74C3C">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Agent Trajectory Evaluation</a:t>
            </a:r>
            <a:endParaRPr lang="en-US" sz="1100"/>
          </a:p>
        </p:txBody>
      </p:sp>
      <p:sp>
        <p:nvSpPr>
          <p:cNvPr name="AutoShape 5" id="5"/>
          <p:cNvSpPr/>
          <p:nvPr/>
        </p:nvSpPr>
        <p:spPr>
          <a:xfrm rot="0" flipH="false" flipV="false">
            <a:off x="2921000" y="5080000"/>
            <a:ext cx="6350000" cy="1016000"/>
          </a:xfrm>
          <a:prstGeom prst="roundRect">
            <a:avLst>
              <a:gd name="adj" fmla="val 0"/>
            </a:avLst>
          </a:prstGeom>
          <a:solidFill>
            <a:srgbClr val="F1C40F">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4495E"/>
                </a:solidFill>
                <a:latin typeface="Noto Sans SC"/>
                <a:ea typeface="Noto Sans SC"/>
                <a:cs typeface="Noto Sans SC"/>
                <a:sym typeface="Noto Sans SC"/>
              </a:rPr>
              <a:t>Component UT (Unit Testing)</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2.1 Agent Trajectory Evaluation</a:t>
            </a:r>
            <a:endParaRPr lang="en-US" sz="1100"/>
          </a:p>
        </p:txBody>
      </p:sp>
      <p:sp>
        <p:nvSpPr>
          <p:cNvPr name="AutoShape 3" id="3"/>
          <p:cNvSpPr/>
          <p:nvPr/>
        </p:nvSpPr>
        <p:spPr>
          <a:xfrm rot="0" flipH="false" flipV="false">
            <a:off x="762000" y="1333500"/>
            <a:ext cx="10668000" cy="254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533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C0392B"/>
                </a:solidFill>
                <a:latin typeface="Poppins"/>
                <a:ea typeface="Poppins"/>
                <a:cs typeface="Poppins"/>
                <a:sym typeface="Poppins"/>
              </a:rPr>
              <a:t>Core Evaluation Content</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spcBef>
                <a:spcPts val="500"/>
              </a:spcBef>
            </a:pPr>
            <a:r>
              <a:rPr lang="en-US" b="false" i="false" strike="noStrike" u="none" sz="1400">
                <a:solidFill>
                  <a:srgbClr val="34495E"/>
                </a:solidFill>
                <a:latin typeface="Poppins"/>
                <a:ea typeface="Poppins"/>
                <a:cs typeface="Poppins"/>
                <a:sym typeface="Poppins"/>
              </a:rPr>
              <a:t>Focuses on evaluating the agent's Reasoning, Action, and Execution layers.</a:t>
            </a:r>
          </a:p>
        </p:txBody>
      </p:sp>
      <p:sp>
        <p:nvSpPr>
          <p:cNvPr name="AutoShape 5" id="5"/>
          <p:cNvSpPr/>
          <p:nvPr/>
        </p:nvSpPr>
        <p:spPr>
          <a:xfrm rot="0" flipH="false" flipV="false">
            <a:off x="762000" y="3556000"/>
            <a:ext cx="533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C0392B"/>
                </a:solidFill>
                <a:latin typeface="Poppins"/>
                <a:ea typeface="Poppins"/>
                <a:cs typeface="Poppins"/>
                <a:sym typeface="Poppins"/>
              </a:rPr>
              <a:t>Key Metrics Source</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spcBef>
                <a:spcPts val="500"/>
              </a:spcBef>
            </a:pPr>
            <a:r>
              <a:rPr lang="en-US" b="false" i="false" strike="noStrike" u="none" sz="1400">
                <a:solidFill>
                  <a:srgbClr val="34495E"/>
                </a:solidFill>
                <a:latin typeface="Poppins"/>
                <a:ea typeface="Poppins"/>
                <a:cs typeface="Poppins"/>
                <a:sym typeface="Poppins"/>
              </a:rPr>
              <a:t>References open-source frameworks such as Deepeval, Ragas, and Opik for defining metrics related to thought process quality, action correctness, and execution efficiency.</a:t>
            </a:r>
          </a:p>
        </p:txBody>
      </p:sp>
      <p:sp>
        <p:nvSpPr>
          <p:cNvPr name="AutoShape 6" id="6"/>
          <p:cNvSpPr/>
          <p:nvPr/>
        </p:nvSpPr>
        <p:spPr>
          <a:xfrm rot="0" flipH="false" flipV="false">
            <a:off x="7112000" y="2032000"/>
            <a:ext cx="2540000" cy="2540000"/>
          </a:xfrm>
          <a:prstGeom prst="ellipse">
            <a:avLst/>
          </a:prstGeom>
          <a:solidFill>
            <a:srgbClr val="C0392B">
              <a:alpha val="10000"/>
            </a:srgbClr>
          </a:solidFill>
          <a:ln w="25400" cmpd="sng" cap="flat">
            <a:solidFill>
              <a:srgbClr val="C0392B">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C0392B"/>
                </a:solidFill>
                <a:latin typeface="Poppins"/>
                <a:ea typeface="Poppins"/>
                <a:cs typeface="Poppins"/>
                <a:sym typeface="Poppins"/>
              </a:rPr>
              <a:t>Reasoning</a:t>
            </a:r>
            <a:r>
              <a:rPr lang="en-US" b="true" i="false" strike="noStrike" u="none" sz="1800">
                <a:solidFill>
                  <a:srgbClr val="C0392B"/>
                </a:solidFill>
                <a:latin typeface="Poppins"/>
                <a:ea typeface="Poppins"/>
                <a:cs typeface="Poppins"/>
                <a:sym typeface="Poppins"/>
              </a:rPr>
              <a:t/>
            </a:r>
            <a:endParaRPr lang="en-US" sz="1100"/>
          </a:p>
          <a:p>
            <a:pPr algn="ctr" indent="0">
              <a:lnSpc>
                <a:spcPct val="125000"/>
              </a:lnSpc>
            </a:pPr>
            <a:r>
              <a:rPr lang="en-US" b="true" i="false" strike="noStrike" u="none" sz="1800">
                <a:solidFill>
                  <a:srgbClr val="C0392B"/>
                </a:solidFill>
                <a:latin typeface="Poppins"/>
                <a:ea typeface="Poppins"/>
                <a:cs typeface="Poppins"/>
                <a:sym typeface="Poppins"/>
              </a:rPr>
              <a:t>↓</a:t>
            </a:r>
            <a:r>
              <a:rPr lang="en-US" b="true" i="false" strike="noStrike" u="none" sz="1800">
                <a:solidFill>
                  <a:srgbClr val="C0392B"/>
                </a:solidFill>
                <a:latin typeface="Poppins"/>
                <a:ea typeface="Poppins"/>
                <a:cs typeface="Poppins"/>
                <a:sym typeface="Poppins"/>
              </a:rPr>
              <a:t/>
            </a:r>
          </a:p>
          <a:p>
            <a:pPr algn="ctr" indent="0">
              <a:lnSpc>
                <a:spcPct val="125000"/>
              </a:lnSpc>
            </a:pPr>
            <a:r>
              <a:rPr lang="en-US" b="true" i="false" strike="noStrike" u="none" sz="1800">
                <a:solidFill>
                  <a:srgbClr val="C0392B"/>
                </a:solidFill>
                <a:latin typeface="Poppins"/>
                <a:ea typeface="Poppins"/>
                <a:cs typeface="Poppins"/>
                <a:sym typeface="Poppins"/>
              </a:rPr>
              <a:t>Action</a:t>
            </a:r>
            <a:r>
              <a:rPr lang="en-US" b="true" i="false" strike="noStrike" u="none" sz="1800">
                <a:solidFill>
                  <a:srgbClr val="C0392B"/>
                </a:solidFill>
                <a:latin typeface="Poppins"/>
                <a:ea typeface="Poppins"/>
                <a:cs typeface="Poppins"/>
                <a:sym typeface="Poppins"/>
              </a:rPr>
              <a:t/>
            </a:r>
          </a:p>
          <a:p>
            <a:pPr algn="ctr" indent="0">
              <a:lnSpc>
                <a:spcPct val="125000"/>
              </a:lnSpc>
            </a:pPr>
            <a:r>
              <a:rPr lang="en-US" b="true" i="false" strike="noStrike" u="none" sz="1800">
                <a:solidFill>
                  <a:srgbClr val="C0392B"/>
                </a:solidFill>
                <a:latin typeface="Poppins"/>
                <a:ea typeface="Poppins"/>
                <a:cs typeface="Poppins"/>
                <a:sym typeface="Poppins"/>
              </a:rPr>
              <a:t>↓</a:t>
            </a:r>
            <a:r>
              <a:rPr lang="en-US" b="true" i="false" strike="noStrike" u="none" sz="1800">
                <a:solidFill>
                  <a:srgbClr val="C0392B"/>
                </a:solidFill>
                <a:latin typeface="Poppins"/>
                <a:ea typeface="Poppins"/>
                <a:cs typeface="Poppins"/>
                <a:sym typeface="Poppins"/>
              </a:rPr>
              <a:t/>
            </a:r>
          </a:p>
          <a:p>
            <a:pPr algn="ctr" indent="0">
              <a:lnSpc>
                <a:spcPct val="125000"/>
              </a:lnSpc>
            </a:pPr>
            <a:r>
              <a:rPr lang="en-US" b="true" i="false" strike="noStrike" u="none" sz="1800">
                <a:solidFill>
                  <a:srgbClr val="C0392B"/>
                </a:solidFill>
                <a:latin typeface="Poppins"/>
                <a:ea typeface="Poppins"/>
                <a:cs typeface="Poppins"/>
                <a:sym typeface="Poppins"/>
              </a:rPr>
              <a:t>Execution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2.2 E2E Evaluation</a:t>
            </a:r>
            <a:endParaRPr lang="en-US" sz="1100"/>
          </a:p>
        </p:txBody>
      </p:sp>
      <p:sp>
        <p:nvSpPr>
          <p:cNvPr name="AutoShape 3" id="3"/>
          <p:cNvSpPr/>
          <p:nvPr/>
        </p:nvSpPr>
        <p:spPr>
          <a:xfrm rot="0" flipH="false" flipV="false">
            <a:off x="762000" y="1333500"/>
            <a:ext cx="10668000" cy="381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33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34495E"/>
                </a:solidFill>
                <a:latin typeface="Poppins"/>
                <a:ea typeface="Poppins"/>
                <a:cs typeface="Poppins"/>
                <a:sym typeface="Poppins"/>
              </a:rPr>
              <a:t>E2E evaluation relies on ground truth for objective comparison and uses requirement &amp; bug-driven rubric evaluation for a more nuanced, scenario-based assessment.</a:t>
            </a:r>
            <a:endParaRPr lang="en-US" sz="1100"/>
          </a:p>
        </p:txBody>
      </p:sp>
      <p:pic>
        <p:nvPicPr>
          <p:cNvPr name="Picture 5" id="5"/>
          <p:cNvPicPr>
            <a:picLocks noChangeAspect="true"/>
          </p:cNvPicPr>
          <p:nvPr/>
        </p:nvPicPr>
        <p:blipFill>
          <a:blip r:embed="rId2"/>
          <a:srcRect l="0" r="0" t="16666" b="16666"/>
          <a:stretch>
            <a:fillRect/>
          </a:stretch>
        </p:blipFill>
        <p:spPr>
          <a:xfrm rot="0" flipH="false" flipV="false">
            <a:off x="6604000" y="1905000"/>
            <a:ext cx="3048000" cy="2032000"/>
          </a:xfrm>
          <a:prstGeom prst="rect">
            <a:avLst/>
          </a:prstGeom>
          <a:noFill/>
          <a:ln w="12700" cmpd="sng" cap="flat">
            <a:solidFill>
              <a:srgbClr val="34495E">
                <a:alpha val="100000"/>
              </a:srgbClr>
            </a:solidFill>
            <a:prstDash val="solid"/>
            <a:round/>
          </a:ln>
        </p:spPr>
      </p:pic>
      <p:sp>
        <p:nvSpPr>
          <p:cNvPr name="AutoShape 6" id="6"/>
          <p:cNvSpPr/>
          <p:nvPr/>
        </p:nvSpPr>
        <p:spPr>
          <a:xfrm rot="0" flipH="false" flipV="false">
            <a:off x="6604000" y="4064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34495E"/>
                </a:solidFill>
                <a:latin typeface="Poppins"/>
                <a:ea typeface="Poppins"/>
                <a:cs typeface="Poppins"/>
                <a:sym typeface="Poppins"/>
              </a:rPr>
              <a:t>Figure: End-to-End Task Flow</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4699000"/>
            <a:ext cx="406400" cy="406400"/>
          </a:xfrm>
          <a:prstGeom prst="rect">
            <a:avLst/>
          </a:prstGeom>
        </p:spPr>
      </p:pic>
      <p:sp>
        <p:nvSpPr>
          <p:cNvPr name="AutoShape 8" id="8"/>
          <p:cNvSpPr/>
          <p:nvPr/>
        </p:nvSpPr>
        <p:spPr>
          <a:xfrm rot="0" flipH="false" flipV="false">
            <a:off x="7112000" y="4699000"/>
            <a:ext cx="2540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4495E"/>
                </a:solidFill>
                <a:latin typeface="Poppins"/>
                <a:ea typeface="Poppins"/>
                <a:cs typeface="Poppins"/>
                <a:sym typeface="Poppins"/>
              </a:rPr>
              <a:t>Full Cycle Assessment</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0000" r="10000" t="10000" b="10000"/>
          <a:stretch>
            <a:fillRect/>
          </a:stretch>
        </p:blipFill>
        <p:spPr>
          <a:xfrm rot="0" flipH="false" flipV="false">
            <a:off x="5080000" y="1016000"/>
            <a:ext cx="2032000" cy="1143000"/>
          </a:xfrm>
          <a:prstGeom prst="rect">
            <a:avLst/>
          </a:prstGeom>
          <a:noFill/>
          <a:ln w="25400" cmpd="sng" cap="flat">
            <a:noFill/>
            <a:prstDash val="solid"/>
            <a:round/>
          </a:ln>
        </p:spPr>
      </p:pic>
      <p:sp>
        <p:nvSpPr>
          <p:cNvPr name="AutoShape 3" id="3"/>
          <p:cNvSpPr/>
          <p:nvPr/>
        </p:nvSpPr>
        <p:spPr>
          <a:xfrm rot="0" flipH="false" flipV="false">
            <a:off x="0" y="2540000"/>
            <a:ext cx="1219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C0392B"/>
                </a:solidFill>
                <a:latin typeface="Noto Sans SC"/>
                <a:ea typeface="Noto Sans SC"/>
                <a:cs typeface="Noto Sans SC"/>
                <a:sym typeface="Noto Sans SC"/>
              </a:rPr>
              <a:t>3. Key Evaluation Metrics</a:t>
            </a:r>
            <a:endParaRPr lang="en-US" sz="1100"/>
          </a:p>
        </p:txBody>
      </p:sp>
      <p:sp>
        <p:nvSpPr>
          <p:cNvPr name="AutoShape 4" id="4"/>
          <p:cNvSpPr/>
          <p:nvPr/>
        </p:nvSpPr>
        <p:spPr>
          <a:xfrm rot="0" flipH="false" flipV="false">
            <a:off x="5715000" y="3429000"/>
            <a:ext cx="76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3810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4495E"/>
                </a:solidFill>
                <a:latin typeface="Noto Sans SC"/>
                <a:ea typeface="Noto Sans SC"/>
                <a:cs typeface="Noto Sans SC"/>
                <a:sym typeface="Noto Sans SC"/>
              </a:rPr>
              <a:t>Quantify testing results with standardized measurements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9525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Task &amp; Argument Metrics</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10414000" y="508000"/>
            <a:ext cx="762000" cy="762000"/>
          </a:xfrm>
          <a:prstGeom prst="roundRect">
            <a:avLst>
              <a:gd name="adj" fmla="val 16666"/>
            </a:avLst>
          </a:prstGeom>
          <a:noFill/>
          <a:ln w="25400" cmpd="sng" cap="flat">
            <a:noFill/>
            <a:prstDash val="solid"/>
            <a:round/>
          </a:ln>
        </p:spPr>
      </p:pic>
      <p:sp>
        <p:nvSpPr>
          <p:cNvPr name="AutoShape 4" id="4"/>
          <p:cNvSpPr/>
          <p:nvPr/>
        </p:nvSpPr>
        <p:spPr>
          <a:xfrm rot="0" flipH="false" flipV="false">
            <a:off x="762000" y="1397000"/>
            <a:ext cx="10668000" cy="254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5080000" cy="3556000"/>
          </a:xfrm>
          <a:prstGeom prst="roundRect">
            <a:avLst>
              <a:gd name="adj" fmla="val 3571"/>
            </a:avLst>
          </a:prstGeom>
          <a:solidFill>
            <a:srgbClr val="F8F9FA">
              <a:alpha val="100000"/>
            </a:srgbClr>
          </a:solidFill>
          <a:ln cmpd="sng" cap="flat">
            <a:solidFill>
              <a:srgbClr val="C8D4E1">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524000" y="2006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Task Completion</a:t>
            </a:r>
            <a:endParaRPr lang="en-US" sz="1100"/>
          </a:p>
        </p:txBody>
      </p:sp>
      <p:sp>
        <p:nvSpPr>
          <p:cNvPr name="AutoShape 8" id="8"/>
          <p:cNvSpPr/>
          <p:nvPr/>
        </p:nvSpPr>
        <p:spPr>
          <a:xfrm rot="0" flipH="false" flipV="false">
            <a:off x="1016000" y="2540000"/>
            <a:ext cx="457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0392B"/>
                </a:solidFill>
                <a:latin typeface="Poppins"/>
                <a:ea typeface="Poppins"/>
                <a:cs typeface="Poppins"/>
                <a:sym typeface="Poppins"/>
              </a:rPr>
              <a:t>Definition:</a:t>
            </a:r>
            <a:r>
              <a:rPr lang="en-US" b="false" i="false" strike="noStrike" u="none" sz="1400">
                <a:solidFill>
                  <a:srgbClr val="34495E"/>
                </a:solidFill>
                <a:latin typeface="Poppins"/>
                <a:ea typeface="Poppins"/>
                <a:cs typeface="Poppins"/>
                <a:sym typeface="Poppins"/>
              </a:rPr>
              <a:t>The percentage of tasks successfully completed by the agent.</a:t>
            </a:r>
            <a:endParaRPr lang="en-US" sz="1100"/>
          </a:p>
        </p:txBody>
      </p:sp>
      <p:sp>
        <p:nvSpPr>
          <p:cNvPr name="AutoShape 9" id="9"/>
          <p:cNvSpPr/>
          <p:nvPr/>
        </p:nvSpPr>
        <p:spPr>
          <a:xfrm rot="0" flipH="false" flipV="false">
            <a:off x="1016000" y="3429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0392B"/>
                </a:solidFill>
                <a:latin typeface="Poppins"/>
                <a:ea typeface="Poppins"/>
                <a:cs typeface="Poppins"/>
                <a:sym typeface="Poppins"/>
              </a:rPr>
              <a:t>Measurement:</a:t>
            </a:r>
            <a:r>
              <a:rPr lang="en-US" b="false" i="false" strike="noStrike" u="none" sz="1400">
                <a:solidFill>
                  <a:srgbClr val="34495E"/>
                </a:solidFill>
                <a:latin typeface="Poppins"/>
                <a:ea typeface="Poppins"/>
                <a:cs typeface="Poppins"/>
                <a:sym typeface="Poppins"/>
              </a:rPr>
              <a:t>Binary (success/failure) or graded based on how much of the task is completed.</a:t>
            </a:r>
            <a:endParaRPr lang="en-US" sz="1100"/>
          </a:p>
        </p:txBody>
      </p:sp>
      <p:sp>
        <p:nvSpPr>
          <p:cNvPr name="AutoShape 10" id="10"/>
          <p:cNvSpPr/>
          <p:nvPr/>
        </p:nvSpPr>
        <p:spPr>
          <a:xfrm rot="0" flipH="false" flipV="false">
            <a:off x="6350000" y="1778000"/>
            <a:ext cx="5080000" cy="3556000"/>
          </a:xfrm>
          <a:prstGeom prst="roundRect">
            <a:avLst>
              <a:gd name="adj" fmla="val 3571"/>
            </a:avLst>
          </a:prstGeom>
          <a:solidFill>
            <a:srgbClr val="F8F9FA">
              <a:alpha val="100000"/>
            </a:srgbClr>
          </a:solidFill>
          <a:ln cmpd="sng" cap="flat">
            <a:solidFill>
              <a:srgbClr val="C8D4E1">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2032000"/>
            <a:ext cx="406400" cy="406400"/>
          </a:xfrm>
          <a:prstGeom prst="rect">
            <a:avLst/>
          </a:prstGeom>
        </p:spPr>
      </p:pic>
      <p:sp>
        <p:nvSpPr>
          <p:cNvPr name="AutoShape 12" id="12"/>
          <p:cNvSpPr/>
          <p:nvPr/>
        </p:nvSpPr>
        <p:spPr>
          <a:xfrm rot="0" flipH="false" flipV="false">
            <a:off x="7112000" y="20066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Argument Correctness</a:t>
            </a:r>
            <a:endParaRPr lang="en-US" sz="1100"/>
          </a:p>
        </p:txBody>
      </p:sp>
      <p:sp>
        <p:nvSpPr>
          <p:cNvPr name="AutoShape 13" id="13"/>
          <p:cNvSpPr/>
          <p:nvPr/>
        </p:nvSpPr>
        <p:spPr>
          <a:xfrm rot="0" flipH="false" flipV="false">
            <a:off x="6604000" y="2540000"/>
            <a:ext cx="457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0392B"/>
                </a:solidFill>
                <a:latin typeface="Poppins"/>
                <a:ea typeface="Poppins"/>
                <a:cs typeface="Poppins"/>
                <a:sym typeface="Poppins"/>
              </a:rPr>
              <a:t>Definition:</a:t>
            </a:r>
            <a:r>
              <a:rPr lang="en-US" b="false" i="false" strike="noStrike" u="none" sz="1400">
                <a:solidFill>
                  <a:srgbClr val="34495E"/>
                </a:solidFill>
                <a:latin typeface="Poppins"/>
                <a:ea typeface="Poppins"/>
                <a:cs typeface="Poppins"/>
                <a:sym typeface="Poppins"/>
              </a:rPr>
              <a:t>The logical soundness and factual accuracy of the agent's reasoning or explanations.</a:t>
            </a:r>
            <a:endParaRPr lang="en-US" sz="1100"/>
          </a:p>
        </p:txBody>
      </p:sp>
      <p:sp>
        <p:nvSpPr>
          <p:cNvPr name="AutoShape 14" id="14"/>
          <p:cNvSpPr/>
          <p:nvPr/>
        </p:nvSpPr>
        <p:spPr>
          <a:xfrm rot="0" flipH="false" flipV="false">
            <a:off x="6604000" y="3429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0392B"/>
                </a:solidFill>
                <a:latin typeface="Poppins"/>
                <a:ea typeface="Poppins"/>
                <a:cs typeface="Poppins"/>
                <a:sym typeface="Poppins"/>
              </a:rPr>
              <a:t>Measurement:</a:t>
            </a:r>
            <a:r>
              <a:rPr lang="en-US" b="false" i="false" strike="noStrike" u="none" sz="1400">
                <a:solidFill>
                  <a:srgbClr val="34495E"/>
                </a:solidFill>
                <a:latin typeface="Poppins"/>
                <a:ea typeface="Poppins"/>
                <a:cs typeface="Poppins"/>
                <a:sym typeface="Poppins"/>
              </a:rPr>
              <a:t>Often requires human evaluation or sophisticated NLP models to assess.</a:t>
            </a:r>
            <a:endParaRPr lang="en-US" sz="1100"/>
          </a:p>
        </p:txBody>
      </p:sp>
      <p:sp>
        <p:nvSpPr>
          <p:cNvPr name="AutoShape 15" id="15"/>
          <p:cNvSpPr/>
          <p:nvPr/>
        </p:nvSpPr>
        <p:spPr>
          <a:xfrm rot="0" flipH="false" flipV="false">
            <a:off x="762000" y="5715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34495E">
                    <a:alpha val="70196"/>
                  </a:srgbClr>
                </a:solidFill>
                <a:latin typeface="Poppins"/>
                <a:ea typeface="Poppins"/>
                <a:cs typeface="Poppins"/>
                <a:sym typeface="Poppins"/>
              </a:rPr>
              <a:t>Key indicators for evaluating agent performance and trustworthiness.</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Plan &amp; Step Metrics</a:t>
            </a:r>
            <a:endParaRPr lang="en-US" sz="1100"/>
          </a:p>
        </p:txBody>
      </p:sp>
      <p:sp>
        <p:nvSpPr>
          <p:cNvPr name="AutoShape 3" id="3"/>
          <p:cNvSpPr/>
          <p:nvPr/>
        </p:nvSpPr>
        <p:spPr>
          <a:xfrm rot="0" flipH="false" flipV="false">
            <a:off x="762000" y="1206500"/>
            <a:ext cx="76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33333" b="33333"/>
          <a:stretch>
            <a:fillRect/>
          </a:stretch>
        </p:blipFill>
        <p:spPr>
          <a:xfrm rot="0" flipH="false" flipV="false">
            <a:off x="4191000" y="1397000"/>
            <a:ext cx="3810000" cy="1270000"/>
          </a:xfrm>
          <a:prstGeom prst="rect">
            <a:avLst/>
          </a:prstGeom>
          <a:noFill/>
          <a:ln w="25400" cmpd="sng" cap="flat">
            <a:noFill/>
            <a:prstDash val="solid"/>
            <a:round/>
          </a:ln>
        </p:spPr>
      </p:pic>
      <p:sp>
        <p:nvSpPr>
          <p:cNvPr name="AutoShape 5" id="5"/>
          <p:cNvSpPr/>
          <p:nvPr/>
        </p:nvSpPr>
        <p:spPr>
          <a:xfrm rot="0" flipH="false" flipV="false">
            <a:off x="762000" y="2921000"/>
            <a:ext cx="3302000" cy="2540000"/>
          </a:xfrm>
          <a:prstGeom prst="roundRect">
            <a:avLst>
              <a:gd name="adj" fmla="val 5000"/>
            </a:avLst>
          </a:prstGeom>
          <a:solidFill>
            <a:srgbClr val="F7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921000"/>
            <a:ext cx="330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095500" y="3111500"/>
            <a:ext cx="609600" cy="609600"/>
          </a:xfrm>
          <a:prstGeom prst="rect">
            <a:avLst/>
          </a:prstGeom>
        </p:spPr>
      </p:pic>
      <p:sp>
        <p:nvSpPr>
          <p:cNvPr name="AutoShape 8" id="8"/>
          <p:cNvSpPr/>
          <p:nvPr/>
        </p:nvSpPr>
        <p:spPr>
          <a:xfrm rot="0" flipH="false" flipV="false">
            <a:off x="889000" y="3746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34495E"/>
                </a:solidFill>
                <a:latin typeface="Poppins"/>
                <a:ea typeface="Poppins"/>
                <a:cs typeface="Poppins"/>
                <a:sym typeface="Poppins"/>
              </a:rPr>
              <a:t>Plan Quality</a:t>
            </a:r>
            <a:endParaRPr lang="en-US" sz="1100"/>
          </a:p>
        </p:txBody>
      </p:sp>
      <p:sp>
        <p:nvSpPr>
          <p:cNvPr name="AutoShape 9" id="9"/>
          <p:cNvSpPr/>
          <p:nvPr/>
        </p:nvSpPr>
        <p:spPr>
          <a:xfrm rot="0" flipH="false" flipV="false">
            <a:off x="889000" y="4191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C0392B"/>
                </a:solidFill>
                <a:latin typeface="Noto Sans SC"/>
                <a:ea typeface="Noto Sans SC"/>
                <a:cs typeface="Noto Sans SC"/>
                <a:sym typeface="Noto Sans SC"/>
              </a:rPr>
              <a:t>Definition:</a:t>
            </a:r>
            <a:r>
              <a:rPr lang="en-US" b="false" i="false" strike="noStrike" u="none" sz="1200">
                <a:solidFill>
                  <a:srgbClr val="505050"/>
                </a:solidFill>
                <a:latin typeface="Noto Sans SC"/>
                <a:ea typeface="Noto Sans SC"/>
                <a:cs typeface="Noto Sans SC"/>
                <a:sym typeface="Noto Sans SC"/>
              </a:rPr>
              <a:t>Agent's strategy/plan goodness for goal achievement.</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200">
                <a:solidFill>
                  <a:srgbClr val="C0392B"/>
                </a:solidFill>
                <a:latin typeface="Noto Sans SC"/>
                <a:ea typeface="Noto Sans SC"/>
                <a:cs typeface="Noto Sans SC"/>
                <a:sym typeface="Noto Sans SC"/>
              </a:rPr>
              <a:t>Measurement:</a:t>
            </a:r>
            <a:r>
              <a:rPr lang="en-US" b="false" i="false" strike="noStrike" u="none" sz="1200">
                <a:solidFill>
                  <a:srgbClr val="505050"/>
                </a:solidFill>
                <a:latin typeface="Noto Sans SC"/>
                <a:ea typeface="Noto Sans SC"/>
                <a:cs typeface="Noto Sans SC"/>
                <a:sym typeface="Noto Sans SC"/>
              </a:rPr>
              <a:t>Based on optimality, feasibility, robustness.</a:t>
            </a:r>
          </a:p>
        </p:txBody>
      </p:sp>
      <p:sp>
        <p:nvSpPr>
          <p:cNvPr name="AutoShape 10" id="10"/>
          <p:cNvSpPr/>
          <p:nvPr/>
        </p:nvSpPr>
        <p:spPr>
          <a:xfrm rot="0" flipH="false" flipV="false">
            <a:off x="4445000" y="2921000"/>
            <a:ext cx="3302000" cy="2540000"/>
          </a:xfrm>
          <a:prstGeom prst="roundRect">
            <a:avLst>
              <a:gd name="adj" fmla="val 5000"/>
            </a:avLst>
          </a:prstGeom>
          <a:solidFill>
            <a:srgbClr val="F7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921000"/>
            <a:ext cx="330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78500" y="3111500"/>
            <a:ext cx="609600" cy="609600"/>
          </a:xfrm>
          <a:prstGeom prst="rect">
            <a:avLst/>
          </a:prstGeom>
        </p:spPr>
      </p:pic>
      <p:sp>
        <p:nvSpPr>
          <p:cNvPr name="AutoShape 13" id="13"/>
          <p:cNvSpPr/>
          <p:nvPr/>
        </p:nvSpPr>
        <p:spPr>
          <a:xfrm rot="0" flipH="false" flipV="false">
            <a:off x="4572000" y="3746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34495E"/>
                </a:solidFill>
                <a:latin typeface="Poppins"/>
                <a:ea typeface="Poppins"/>
                <a:cs typeface="Poppins"/>
                <a:sym typeface="Poppins"/>
              </a:rPr>
              <a:t>Plan Adherence</a:t>
            </a:r>
            <a:endParaRPr lang="en-US" sz="1100"/>
          </a:p>
        </p:txBody>
      </p:sp>
      <p:sp>
        <p:nvSpPr>
          <p:cNvPr name="AutoShape 14" id="14"/>
          <p:cNvSpPr/>
          <p:nvPr/>
        </p:nvSpPr>
        <p:spPr>
          <a:xfrm rot="0" flipH="false" flipV="false">
            <a:off x="4572000" y="4191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C0392B"/>
                </a:solidFill>
                <a:latin typeface="Noto Sans SC"/>
                <a:ea typeface="Noto Sans SC"/>
                <a:cs typeface="Noto Sans SC"/>
                <a:sym typeface="Noto Sans SC"/>
              </a:rPr>
              <a:t>Definition:</a:t>
            </a:r>
            <a:r>
              <a:rPr lang="en-US" b="false" i="false" strike="noStrike" u="none" sz="1200">
                <a:solidFill>
                  <a:srgbClr val="505050"/>
                </a:solidFill>
                <a:latin typeface="Noto Sans SC"/>
                <a:ea typeface="Noto Sans SC"/>
                <a:cs typeface="Noto Sans SC"/>
                <a:sym typeface="Noto Sans SC"/>
              </a:rPr>
              <a:t>Degree of following the plan during execution.</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200">
                <a:solidFill>
                  <a:srgbClr val="C0392B"/>
                </a:solidFill>
                <a:latin typeface="Noto Sans SC"/>
                <a:ea typeface="Noto Sans SC"/>
                <a:cs typeface="Noto Sans SC"/>
                <a:sym typeface="Noto Sans SC"/>
              </a:rPr>
              <a:t>Measurement:</a:t>
            </a:r>
            <a:r>
              <a:rPr lang="en-US" b="false" i="false" strike="noStrike" u="none" sz="1200">
                <a:solidFill>
                  <a:srgbClr val="505050"/>
                </a:solidFill>
                <a:latin typeface="Noto Sans SC"/>
                <a:ea typeface="Noto Sans SC"/>
                <a:cs typeface="Noto Sans SC"/>
                <a:sym typeface="Noto Sans SC"/>
              </a:rPr>
              <a:t>Compare actions against outlined steps.</a:t>
            </a:r>
          </a:p>
        </p:txBody>
      </p:sp>
      <p:sp>
        <p:nvSpPr>
          <p:cNvPr name="AutoShape 15" id="15"/>
          <p:cNvSpPr/>
          <p:nvPr/>
        </p:nvSpPr>
        <p:spPr>
          <a:xfrm rot="0" flipH="false" flipV="false">
            <a:off x="8128000" y="2921000"/>
            <a:ext cx="3302000" cy="2540000"/>
          </a:xfrm>
          <a:prstGeom prst="roundRect">
            <a:avLst>
              <a:gd name="adj" fmla="val 5000"/>
            </a:avLst>
          </a:prstGeom>
          <a:solidFill>
            <a:srgbClr val="F7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2921000"/>
            <a:ext cx="330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461500" y="3111500"/>
            <a:ext cx="609600" cy="609600"/>
          </a:xfrm>
          <a:prstGeom prst="rect">
            <a:avLst/>
          </a:prstGeom>
        </p:spPr>
      </p:pic>
      <p:sp>
        <p:nvSpPr>
          <p:cNvPr name="AutoShape 18" id="18"/>
          <p:cNvSpPr/>
          <p:nvPr/>
        </p:nvSpPr>
        <p:spPr>
          <a:xfrm rot="0" flipH="false" flipV="false">
            <a:off x="8255000" y="3746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34495E"/>
                </a:solidFill>
                <a:latin typeface="Poppins"/>
                <a:ea typeface="Poppins"/>
                <a:cs typeface="Poppins"/>
                <a:sym typeface="Poppins"/>
              </a:rPr>
              <a:t>Step Efficiency</a:t>
            </a:r>
            <a:endParaRPr lang="en-US" sz="1100"/>
          </a:p>
        </p:txBody>
      </p:sp>
      <p:sp>
        <p:nvSpPr>
          <p:cNvPr name="AutoShape 19" id="19"/>
          <p:cNvSpPr/>
          <p:nvPr/>
        </p:nvSpPr>
        <p:spPr>
          <a:xfrm rot="0" flipH="false" flipV="false">
            <a:off x="8255000" y="4191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200">
                <a:solidFill>
                  <a:srgbClr val="C0392B"/>
                </a:solidFill>
                <a:latin typeface="Noto Sans SC"/>
                <a:ea typeface="Noto Sans SC"/>
                <a:cs typeface="Noto Sans SC"/>
                <a:sym typeface="Noto Sans SC"/>
              </a:rPr>
              <a:t>Definition:</a:t>
            </a:r>
            <a:r>
              <a:rPr lang="en-US" b="false" i="false" strike="noStrike" u="none" sz="1200">
                <a:solidFill>
                  <a:srgbClr val="505050"/>
                </a:solidFill>
                <a:latin typeface="Noto Sans SC"/>
                <a:ea typeface="Noto Sans SC"/>
                <a:cs typeface="Noto Sans SC"/>
                <a:sym typeface="Noto Sans SC"/>
              </a:rPr>
              <a:t>Steps/resources consumed to complete task.</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200">
                <a:solidFill>
                  <a:srgbClr val="C0392B"/>
                </a:solidFill>
                <a:latin typeface="Noto Sans SC"/>
                <a:ea typeface="Noto Sans SC"/>
                <a:cs typeface="Noto Sans SC"/>
                <a:sym typeface="Noto Sans SC"/>
              </a:rPr>
              <a:t>Measurement:</a:t>
            </a:r>
            <a:r>
              <a:rPr lang="en-US" b="false" i="false" strike="noStrike" u="none" sz="1200">
                <a:solidFill>
                  <a:srgbClr val="505050"/>
                </a:solidFill>
                <a:latin typeface="Noto Sans SC"/>
                <a:ea typeface="Noto Sans SC"/>
                <a:cs typeface="Noto Sans SC"/>
                <a:sym typeface="Noto Sans SC"/>
              </a:rPr>
              <a:t>Lower steps/usage = higher efficiency.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25000" r="25000" t="25000" b="25000"/>
          <a:stretch>
            <a:fillRect/>
          </a:stretch>
        </p:blipFill>
        <p:spPr>
          <a:xfrm rot="0" flipH="false" flipV="false">
            <a:off x="5080000" y="1016000"/>
            <a:ext cx="2032000" cy="1143000"/>
          </a:xfrm>
          <a:prstGeom prst="rect">
            <a:avLst/>
          </a:prstGeom>
          <a:noFill/>
          <a:ln w="25400" cmpd="sng" cap="flat">
            <a:noFill/>
            <a:prstDash val="solid"/>
            <a:round/>
          </a:ln>
        </p:spPr>
      </p:pic>
      <p:sp>
        <p:nvSpPr>
          <p:cNvPr name="AutoShape 3" id="3"/>
          <p:cNvSpPr/>
          <p:nvPr/>
        </p:nvSpPr>
        <p:spPr>
          <a:xfrm rot="0" flipH="false" flipV="false">
            <a:off x="311150" y="2540000"/>
            <a:ext cx="115697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C0392B"/>
                </a:solidFill>
                <a:latin typeface="Noto Sans SC"/>
                <a:ea typeface="Noto Sans SC"/>
                <a:cs typeface="Noto Sans SC"/>
                <a:sym typeface="Noto Sans SC"/>
              </a:rPr>
              <a:t>4. Challenges &amp; Solutions</a:t>
            </a:r>
            <a:endParaRPr lang="en-US" sz="1100"/>
          </a:p>
        </p:txBody>
      </p:sp>
      <p:sp>
        <p:nvSpPr>
          <p:cNvPr name="AutoShape 4" id="4"/>
          <p:cNvSpPr/>
          <p:nvPr/>
        </p:nvSpPr>
        <p:spPr>
          <a:xfrm rot="0" flipH="false" flipV="false">
            <a:off x="5715000" y="3302000"/>
            <a:ext cx="762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35560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4495E"/>
                </a:solidFill>
                <a:latin typeface="Noto Sans SC"/>
                <a:ea typeface="Noto Sans SC"/>
                <a:cs typeface="Noto Sans SC"/>
                <a:sym typeface="Noto Sans SC"/>
              </a:rPr>
              <a:t>EVALUATION OF MULTI-AGENT SYSTEMS</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Challenge: Bug Quantification</a:t>
            </a:r>
            <a:endParaRPr lang="en-US" sz="1100"/>
          </a:p>
        </p:txBody>
      </p:sp>
      <p:sp>
        <p:nvSpPr>
          <p:cNvPr name="AutoShape 3" id="3"/>
          <p:cNvSpPr/>
          <p:nvPr/>
        </p:nvSpPr>
        <p:spPr>
          <a:xfrm rot="0" flipH="false" flipV="false">
            <a:off x="762000" y="1333500"/>
            <a:ext cx="1016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905000"/>
            <a:ext cx="355600" cy="355600"/>
          </a:xfrm>
          <a:prstGeom prst="rect">
            <a:avLst/>
          </a:prstGeom>
        </p:spPr>
      </p:pic>
      <p:sp>
        <p:nvSpPr>
          <p:cNvPr name="AutoShape 5" id="5"/>
          <p:cNvSpPr/>
          <p:nvPr/>
        </p:nvSpPr>
        <p:spPr>
          <a:xfrm rot="0" flipH="false" flipV="false">
            <a:off x="1219200" y="18542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The Problem</a:t>
            </a:r>
            <a:endParaRPr lang="en-US" sz="1100"/>
          </a:p>
        </p:txBody>
      </p:sp>
      <p:sp>
        <p:nvSpPr>
          <p:cNvPr name="AutoShape 6" id="6"/>
          <p:cNvSpPr/>
          <p:nvPr/>
        </p:nvSpPr>
        <p:spPr>
          <a:xfrm rot="0" flipH="false" flipV="false">
            <a:off x="762000" y="2286000"/>
            <a:ext cx="558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Bugs in multi-agent systems are often non-deterministic and context-dependent, making them hard to reproduce and isolate.</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175000"/>
            <a:ext cx="355600" cy="355600"/>
          </a:xfrm>
          <a:prstGeom prst="rect">
            <a:avLst/>
          </a:prstGeom>
        </p:spPr>
      </p:pic>
      <p:sp>
        <p:nvSpPr>
          <p:cNvPr name="AutoShape 8" id="8"/>
          <p:cNvSpPr/>
          <p:nvPr/>
        </p:nvSpPr>
        <p:spPr>
          <a:xfrm rot="0" flipH="false" flipV="false">
            <a:off x="1219200" y="31242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Traditional Approach</a:t>
            </a:r>
            <a:endParaRPr lang="en-US" sz="1100"/>
          </a:p>
        </p:txBody>
      </p:sp>
      <p:sp>
        <p:nvSpPr>
          <p:cNvPr name="AutoShape 9" id="9"/>
          <p:cNvSpPr/>
          <p:nvPr/>
        </p:nvSpPr>
        <p:spPr>
          <a:xfrm rot="0" flipH="false" flipV="false">
            <a:off x="762000" y="3556000"/>
            <a:ext cx="558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Simple bug counting is insufficient, as not all bugs are equal in severity or impact on the overall system.</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4445000"/>
            <a:ext cx="355600" cy="355600"/>
          </a:xfrm>
          <a:prstGeom prst="rect">
            <a:avLst/>
          </a:prstGeom>
        </p:spPr>
      </p:pic>
      <p:sp>
        <p:nvSpPr>
          <p:cNvPr name="AutoShape 11" id="11"/>
          <p:cNvSpPr/>
          <p:nvPr/>
        </p:nvSpPr>
        <p:spPr>
          <a:xfrm rot="0" flipH="false" flipV="false">
            <a:off x="1219200" y="43942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Our Need</a:t>
            </a:r>
            <a:endParaRPr lang="en-US" sz="1100"/>
          </a:p>
        </p:txBody>
      </p:sp>
      <p:sp>
        <p:nvSpPr>
          <p:cNvPr name="AutoShape 12" id="12"/>
          <p:cNvSpPr/>
          <p:nvPr/>
        </p:nvSpPr>
        <p:spPr>
          <a:xfrm rot="0" flipH="false" flipV="false">
            <a:off x="762000" y="4826000"/>
            <a:ext cx="558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A more nuanced way to quantify the impact of bugs on system performance and requirements satisfaction.</a:t>
            </a:r>
            <a:endParaRPr lang="en-US" sz="1100"/>
          </a:p>
        </p:txBody>
      </p:sp>
      <p:pic>
        <p:nvPicPr>
          <p:cNvPr name="Picture 13" id="13"/>
          <p:cNvPicPr>
            <a:picLocks noChangeAspect="true"/>
          </p:cNvPicPr>
          <p:nvPr/>
        </p:nvPicPr>
        <p:blipFill>
          <a:blip r:embed="rId8"/>
          <a:srcRect l="0" r="0" t="0" b="0"/>
          <a:stretch>
            <a:fillRect/>
          </a:stretch>
        </p:blipFill>
        <p:spPr>
          <a:xfrm rot="0" flipH="false" flipV="false">
            <a:off x="7366000" y="1905000"/>
            <a:ext cx="2794000" cy="2794000"/>
          </a:xfrm>
          <a:prstGeom prst="roundRect">
            <a:avLst>
              <a:gd name="adj" fmla="val 4545"/>
            </a:avLst>
          </a:prstGeom>
          <a:noFill/>
          <a:ln w="25400" cmpd="sng" cap="flat">
            <a:noFill/>
            <a:prstDash val="solid"/>
            <a:round/>
          </a:ln>
          <a:effectLst>
            <a:outerShdw dir="2700000" dist="63500" blurRad="127000" algn="tl" rotWithShape="false">
              <a:srgbClr val="000000">
                <a:alpha val="15000"/>
              </a:srgbClr>
            </a:outerShdw>
          </a:effectLst>
        </p:spPr>
      </p:pic>
      <p:sp>
        <p:nvSpPr>
          <p:cNvPr name="AutoShape 14" id="14"/>
          <p:cNvSpPr/>
          <p:nvPr/>
        </p:nvSpPr>
        <p:spPr>
          <a:xfrm rot="0" flipH="false" flipV="false">
            <a:off x="7366000" y="4826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34495E">
                    <a:alpha val="60000"/>
                  </a:srgbClr>
                </a:solidFill>
                <a:latin typeface="Poppins"/>
                <a:ea typeface="Poppins"/>
                <a:cs typeface="Poppins"/>
                <a:sym typeface="Poppins"/>
              </a:rPr>
              <a:t>Elusive Bugs in Complex Systems</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34495E"/>
                </a:solidFill>
                <a:latin typeface="Poppins"/>
                <a:ea typeface="Poppins"/>
                <a:cs typeface="Poppins"/>
                <a:sym typeface="Poppins"/>
              </a:rPr>
              <a:t>Solution: Bug/Requirement Rubric Evaluation</a:t>
            </a:r>
            <a:endParaRPr lang="en-US" sz="1100"/>
          </a:p>
        </p:txBody>
      </p:sp>
      <p:sp>
        <p:nvSpPr>
          <p:cNvPr name="AutoShape 3" id="3"/>
          <p:cNvSpPr/>
          <p:nvPr/>
        </p:nvSpPr>
        <p:spPr>
          <a:xfrm rot="0" flipH="false" flipV="false">
            <a:off x="762000" y="1270000"/>
            <a:ext cx="1016000" cy="508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778000"/>
            <a:ext cx="406400" cy="406400"/>
          </a:xfrm>
          <a:prstGeom prst="rect">
            <a:avLst/>
          </a:prstGeom>
        </p:spPr>
      </p:pic>
      <p:sp>
        <p:nvSpPr>
          <p:cNvPr name="AutoShape 5" id="5"/>
          <p:cNvSpPr/>
          <p:nvPr/>
        </p:nvSpPr>
        <p:spPr>
          <a:xfrm rot="0" flipH="false" flipV="false">
            <a:off x="1270000" y="1727200"/>
            <a:ext cx="609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The Solution: Structured Scoring Guide</a:t>
            </a:r>
            <a:endParaRPr lang="en-US" sz="1100"/>
          </a:p>
        </p:txBody>
      </p:sp>
      <p:sp>
        <p:nvSpPr>
          <p:cNvPr name="AutoShape 6" id="6"/>
          <p:cNvSpPr/>
          <p:nvPr/>
        </p:nvSpPr>
        <p:spPr>
          <a:xfrm rot="0" flipH="false" flipV="false">
            <a:off x="1270000" y="2159000"/>
            <a:ext cx="609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Define a detailed rubric (scoring guide) to evaluate bugs or requirement fulfillment across multiple predefined dimensions, ensuring objectivity.</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048000"/>
            <a:ext cx="406400" cy="406400"/>
          </a:xfrm>
          <a:prstGeom prst="rect">
            <a:avLst/>
          </a:prstGeom>
        </p:spPr>
      </p:pic>
      <p:sp>
        <p:nvSpPr>
          <p:cNvPr name="AutoShape 8" id="8"/>
          <p:cNvSpPr/>
          <p:nvPr/>
        </p:nvSpPr>
        <p:spPr>
          <a:xfrm rot="0" flipH="false" flipV="false">
            <a:off x="1270000" y="2997200"/>
            <a:ext cx="609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Key Evaluation Dimensions</a:t>
            </a:r>
            <a:endParaRPr lang="en-US" sz="1100"/>
          </a:p>
        </p:txBody>
      </p:sp>
      <p:sp>
        <p:nvSpPr>
          <p:cNvPr name="AutoShape 9" id="9"/>
          <p:cNvSpPr/>
          <p:nvPr/>
        </p:nvSpPr>
        <p:spPr>
          <a:xfrm rot="0" flipH="false" flipV="false">
            <a:off x="1270000" y="3429000"/>
            <a:ext cx="609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Assess based on</a:t>
            </a:r>
            <a:r>
              <a:rPr lang="en-US" b="true" i="false" strike="noStrike" u="none" sz="1400">
                <a:solidFill>
                  <a:srgbClr val="34495E"/>
                </a:solidFill>
                <a:latin typeface="Poppins"/>
                <a:ea typeface="Poppins"/>
                <a:cs typeface="Poppins"/>
                <a:sym typeface="Poppins"/>
              </a:rPr>
              <a:t>Severity</a:t>
            </a:r>
            <a:r>
              <a:rPr lang="en-US" b="false" i="false" strike="noStrike" u="none" sz="1400">
                <a:solidFill>
                  <a:srgbClr val="34495E"/>
                </a:solidFill>
                <a:latin typeface="Poppins"/>
                <a:ea typeface="Poppins"/>
                <a:cs typeface="Poppins"/>
                <a:sym typeface="Poppins"/>
              </a:rPr>
              <a:t>(critical/major/minor),</a:t>
            </a:r>
            <a:r>
              <a:rPr lang="en-US" b="true" i="false" strike="noStrike" u="none" sz="1400">
                <a:solidFill>
                  <a:srgbClr val="34495E"/>
                </a:solidFill>
                <a:latin typeface="Poppins"/>
                <a:ea typeface="Poppins"/>
                <a:cs typeface="Poppins"/>
                <a:sym typeface="Poppins"/>
              </a:rPr>
              <a:t>Impact</a:t>
            </a:r>
            <a:r>
              <a:rPr lang="en-US" b="false" i="false" strike="noStrike" u="none" sz="1400">
                <a:solidFill>
                  <a:srgbClr val="34495E"/>
                </a:solidFill>
                <a:latin typeface="Poppins"/>
                <a:ea typeface="Poppins"/>
                <a:cs typeface="Poppins"/>
                <a:sym typeface="Poppins"/>
              </a:rPr>
              <a:t>(task/user/system),</a:t>
            </a:r>
            <a:r>
              <a:rPr lang="en-US" b="true" i="false" strike="noStrike" u="none" sz="1400">
                <a:solidFill>
                  <a:srgbClr val="34495E"/>
                </a:solidFill>
                <a:latin typeface="Poppins"/>
                <a:ea typeface="Poppins"/>
                <a:cs typeface="Poppins"/>
                <a:sym typeface="Poppins"/>
              </a:rPr>
              <a:t>Frequency</a:t>
            </a:r>
            <a:r>
              <a:rPr lang="en-US" b="false" i="false" strike="noStrike" u="none" sz="1400">
                <a:solidFill>
                  <a:srgbClr val="34495E"/>
                </a:solidFill>
                <a:latin typeface="Poppins"/>
                <a:ea typeface="Poppins"/>
                <a:cs typeface="Poppins"/>
                <a:sym typeface="Poppins"/>
              </a:rPr>
              <a:t>of occurrence, and</a:t>
            </a:r>
            <a:r>
              <a:rPr lang="en-US" b="true" i="false" strike="noStrike" u="none" sz="1400">
                <a:solidFill>
                  <a:srgbClr val="34495E"/>
                </a:solidFill>
                <a:latin typeface="Poppins"/>
                <a:ea typeface="Poppins"/>
                <a:cs typeface="Poppins"/>
                <a:sym typeface="Poppins"/>
              </a:rPr>
              <a:t>Alignment</a:t>
            </a:r>
            <a:r>
              <a:rPr lang="en-US" b="false" i="false" strike="noStrike" u="none" sz="1400">
                <a:solidFill>
                  <a:srgbClr val="34495E"/>
                </a:solidFill>
                <a:latin typeface="Poppins"/>
                <a:ea typeface="Poppins"/>
                <a:cs typeface="Poppins"/>
                <a:sym typeface="Poppins"/>
              </a:rPr>
              <a:t>with requirements.</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4318000"/>
            <a:ext cx="406400" cy="406400"/>
          </a:xfrm>
          <a:prstGeom prst="rect">
            <a:avLst/>
          </a:prstGeom>
        </p:spPr>
      </p:pic>
      <p:sp>
        <p:nvSpPr>
          <p:cNvPr name="AutoShape 11" id="11"/>
          <p:cNvSpPr/>
          <p:nvPr/>
        </p:nvSpPr>
        <p:spPr>
          <a:xfrm rot="0" flipH="false" flipV="false">
            <a:off x="1270000" y="4267200"/>
            <a:ext cx="609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0392B"/>
                </a:solidFill>
                <a:latin typeface="Poppins"/>
                <a:ea typeface="Poppins"/>
                <a:cs typeface="Poppins"/>
                <a:sym typeface="Poppins"/>
              </a:rPr>
              <a:t>Operational Benefits</a:t>
            </a:r>
            <a:endParaRPr lang="en-US" sz="1100"/>
          </a:p>
        </p:txBody>
      </p:sp>
      <p:sp>
        <p:nvSpPr>
          <p:cNvPr name="AutoShape 12" id="12"/>
          <p:cNvSpPr/>
          <p:nvPr/>
        </p:nvSpPr>
        <p:spPr>
          <a:xfrm rot="0" flipH="false" flipV="false">
            <a:off x="1270000" y="4699000"/>
            <a:ext cx="609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4495E"/>
                </a:solidFill>
                <a:latin typeface="Poppins"/>
                <a:ea typeface="Poppins"/>
                <a:cs typeface="Poppins"/>
                <a:sym typeface="Poppins"/>
              </a:rPr>
              <a:t>Provides a</a:t>
            </a:r>
            <a:r>
              <a:rPr lang="en-US" b="true" i="false" strike="noStrike" u="none" sz="1400">
                <a:solidFill>
                  <a:srgbClr val="34495E"/>
                </a:solidFill>
                <a:latin typeface="Poppins"/>
                <a:ea typeface="Poppins"/>
                <a:cs typeface="Poppins"/>
                <a:sym typeface="Poppins"/>
              </a:rPr>
              <a:t>quantitative and consistent</a:t>
            </a:r>
            <a:r>
              <a:rPr lang="en-US" b="false" i="false" strike="noStrike" u="none" sz="1400">
                <a:solidFill>
                  <a:srgbClr val="34495E"/>
                </a:solidFill>
                <a:latin typeface="Poppins"/>
                <a:ea typeface="Poppins"/>
                <a:cs typeface="Poppins"/>
                <a:sym typeface="Poppins"/>
              </a:rPr>
              <a:t>assessment method, facilitating effective prioritization of fixes and clear tracking of project progress.</a:t>
            </a:r>
            <a:endParaRPr lang="en-US" sz="1100"/>
          </a:p>
        </p:txBody>
      </p:sp>
      <p:pic>
        <p:nvPicPr>
          <p:cNvPr name="Picture 13" id="13"/>
          <p:cNvPicPr>
            <a:picLocks noChangeAspect="true"/>
          </p:cNvPicPr>
          <p:nvPr/>
        </p:nvPicPr>
        <p:blipFill>
          <a:blip r:embed="rId8"/>
          <a:srcRect l="0" r="0" t="0" b="0"/>
          <a:stretch>
            <a:fillRect/>
          </a:stretch>
        </p:blipFill>
        <p:spPr>
          <a:xfrm rot="0" flipH="false" flipV="false">
            <a:off x="8128000" y="1778000"/>
            <a:ext cx="2794000" cy="2794000"/>
          </a:xfrm>
          <a:prstGeom prst="roundRect">
            <a:avLst>
              <a:gd name="adj" fmla="val 4545"/>
            </a:avLst>
          </a:prstGeom>
          <a:noFill/>
          <a:ln w="12700" cmpd="sng" cap="flat">
            <a:solidFill>
              <a:srgbClr val="DCDCDC">
                <a:alpha val="100000"/>
              </a:srgbClr>
            </a:solidFill>
            <a:prstDash val="solid"/>
            <a:round/>
          </a:ln>
          <a:effectLst>
            <a:outerShdw dir="2700000" dist="63500" blurRad="127000" algn="tl" rotWithShape="false">
              <a:srgbClr val="000000">
                <a:alpha val="15000"/>
              </a:srgbClr>
            </a:outerShdw>
          </a:effectLst>
        </p:spPr>
      </p:pic>
      <p:sp>
        <p:nvSpPr>
          <p:cNvPr name="AutoShape 14" id="14"/>
          <p:cNvSpPr/>
          <p:nvPr/>
        </p:nvSpPr>
        <p:spPr>
          <a:xfrm rot="0" flipH="false" flipV="false">
            <a:off x="8128000" y="4699000"/>
            <a:ext cx="279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7F8C8D"/>
                </a:solidFill>
                <a:latin typeface="Poppins"/>
                <a:ea typeface="Poppins"/>
                <a:cs typeface="Poppins"/>
                <a:sym typeface="Poppins"/>
              </a:rPr>
              <a:t>Example: Rubric Scoring Matrix</a:t>
            </a:r>
            <a:endParaRPr lang="en-US" sz="1100"/>
          </a:p>
        </p:txBody>
      </p:sp>
      <p:sp>
        <p:nvSpPr>
          <p:cNvPr name="AutoShape 15" id="15"/>
          <p:cNvSpPr/>
          <p:nvPr/>
        </p:nvSpPr>
        <p:spPr>
          <a:xfrm rot="0" flipH="false" flipV="false">
            <a:off x="762000" y="5842000"/>
            <a:ext cx="10668000" cy="12700"/>
          </a:xfrm>
          <a:prstGeom prst="roundRect">
            <a:avLst>
              <a:gd name="adj" fmla="val 0"/>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5969000"/>
            <a:ext cx="10668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95A5A6"/>
                </a:solidFill>
                <a:latin typeface="Poppins"/>
                <a:ea typeface="Poppins"/>
                <a:cs typeface="Poppins"/>
                <a:sym typeface="Poppins"/>
              </a:rPr>
              <a:t>Process Optimization Series | Quality Assurance</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
            <a:ext cx="1016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C0392B"/>
                </a:solidFill>
                <a:latin typeface="Noto Sans SC"/>
                <a:ea typeface="Noto Sans SC"/>
                <a:cs typeface="Noto Sans SC"/>
                <a:sym typeface="Noto Sans SC"/>
              </a:rPr>
              <a:t>Summary &amp; Q&amp;A</a:t>
            </a:r>
            <a:endParaRPr lang="en-US" sz="1100"/>
          </a:p>
        </p:txBody>
      </p:sp>
      <p:sp>
        <p:nvSpPr>
          <p:cNvPr name="AutoShape 4" id="4"/>
          <p:cNvSpPr/>
          <p:nvPr/>
        </p:nvSpPr>
        <p:spPr>
          <a:xfrm rot="0" flipH="false" flipV="false">
            <a:off x="762000" y="1524000"/>
            <a:ext cx="3302000" cy="2286000"/>
          </a:xfrm>
          <a:prstGeom prst="roundRect">
            <a:avLst>
              <a:gd name="adj" fmla="val 5555"/>
            </a:avLst>
          </a:prstGeom>
          <a:solidFill>
            <a:srgbClr val="F8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09800" y="1714500"/>
            <a:ext cx="406400" cy="406400"/>
          </a:xfrm>
          <a:prstGeom prst="rect">
            <a:avLst/>
          </a:prstGeom>
        </p:spPr>
      </p:pic>
      <p:sp>
        <p:nvSpPr>
          <p:cNvPr name="AutoShape 6" id="6"/>
          <p:cNvSpPr/>
          <p:nvPr/>
        </p:nvSpPr>
        <p:spPr>
          <a:xfrm rot="0" flipH="false" flipV="false">
            <a:off x="889000" y="222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4495E"/>
                </a:solidFill>
                <a:latin typeface="Noto Sans SC"/>
                <a:ea typeface="Noto Sans SC"/>
                <a:cs typeface="Noto Sans SC"/>
                <a:sym typeface="Noto Sans SC"/>
              </a:rPr>
              <a:t>Evaluation Methods</a:t>
            </a:r>
            <a:endParaRPr lang="en-US" sz="1100"/>
          </a:p>
        </p:txBody>
      </p:sp>
      <p:sp>
        <p:nvSpPr>
          <p:cNvPr name="AutoShape 7" id="7"/>
          <p:cNvSpPr/>
          <p:nvPr/>
        </p:nvSpPr>
        <p:spPr>
          <a:xfrm rot="0" flipH="false" flipV="false">
            <a:off x="889000" y="2667000"/>
            <a:ext cx="3048000" cy="1016000"/>
          </a:xfrm>
          <a:prstGeom prst="rect">
            <a:avLst/>
          </a:prstGeom>
          <a:noFill/>
          <a:ln w="12700" cmpd="sng" cap="flat">
            <a:noFill/>
            <a:prstDash val="solid"/>
            <a:round/>
          </a:ln>
        </p:spPr>
        <p:txBody>
          <a:bodyPr anchor="t" rtlCol="false" anchorCtr="false" vert="horz" wrap="square" lIns="0" rIns="0" tIns="0" bIns="0"/>
          <a:lstStyle/>
          <a:p>
            <a:pPr algn="just" indent="0">
              <a:lnSpc>
                <a:spcPct val="100000"/>
              </a:lnSpc>
              <a:defRPr/>
            </a:pPr>
            <a:r>
              <a:rPr lang="en-US" b="false" i="false" strike="noStrike" u="none" sz="1300">
                <a:solidFill>
                  <a:srgbClr val="505050"/>
                </a:solidFill>
                <a:latin typeface="Noto Sans SC"/>
                <a:ea typeface="Noto Sans SC"/>
                <a:cs typeface="Noto Sans SC"/>
                <a:sym typeface="Noto Sans SC"/>
              </a:rPr>
              <a:t>Distinct approaches (Ground Truth, E2E, Capability) are required compared to traditional software testing.</a:t>
            </a:r>
            <a:endParaRPr lang="en-US" sz="1100"/>
          </a:p>
        </p:txBody>
      </p:sp>
      <p:sp>
        <p:nvSpPr>
          <p:cNvPr name="AutoShape 8" id="8"/>
          <p:cNvSpPr/>
          <p:nvPr/>
        </p:nvSpPr>
        <p:spPr>
          <a:xfrm rot="0" flipH="false" flipV="false">
            <a:off x="4445000" y="1524000"/>
            <a:ext cx="3302000" cy="2286000"/>
          </a:xfrm>
          <a:prstGeom prst="roundRect">
            <a:avLst>
              <a:gd name="adj" fmla="val 5555"/>
            </a:avLst>
          </a:prstGeom>
          <a:solidFill>
            <a:srgbClr val="F8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92800" y="1714500"/>
            <a:ext cx="406400" cy="406400"/>
          </a:xfrm>
          <a:prstGeom prst="rect">
            <a:avLst/>
          </a:prstGeom>
        </p:spPr>
      </p:pic>
      <p:sp>
        <p:nvSpPr>
          <p:cNvPr name="AutoShape 10" id="10"/>
          <p:cNvSpPr/>
          <p:nvPr/>
        </p:nvSpPr>
        <p:spPr>
          <a:xfrm rot="0" flipH="false" flipV="false">
            <a:off x="4572000" y="222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4495E"/>
                </a:solidFill>
                <a:latin typeface="Noto Sans SC"/>
                <a:ea typeface="Noto Sans SC"/>
                <a:cs typeface="Noto Sans SC"/>
                <a:sym typeface="Noto Sans SC"/>
              </a:rPr>
              <a:t>Key Metrics</a:t>
            </a:r>
            <a:endParaRPr lang="en-US" sz="1100"/>
          </a:p>
        </p:txBody>
      </p:sp>
      <p:sp>
        <p:nvSpPr>
          <p:cNvPr name="AutoShape 11" id="11"/>
          <p:cNvSpPr/>
          <p:nvPr/>
        </p:nvSpPr>
        <p:spPr>
          <a:xfrm rot="0" flipH="false" flipV="false">
            <a:off x="4572000" y="2667000"/>
            <a:ext cx="3048000" cy="1016000"/>
          </a:xfrm>
          <a:prstGeom prst="rect">
            <a:avLst/>
          </a:prstGeom>
          <a:noFill/>
          <a:ln w="12700" cmpd="sng" cap="flat">
            <a:noFill/>
            <a:prstDash val="solid"/>
            <a:round/>
          </a:ln>
        </p:spPr>
        <p:txBody>
          <a:bodyPr anchor="t" rtlCol="false" anchorCtr="false" vert="horz" wrap="square" lIns="0" rIns="0" tIns="0" bIns="0"/>
          <a:lstStyle/>
          <a:p>
            <a:pPr algn="just" indent="0">
              <a:lnSpc>
                <a:spcPct val="100000"/>
              </a:lnSpc>
              <a:defRPr/>
            </a:pPr>
            <a:r>
              <a:rPr lang="en-US" b="false" i="false" strike="noStrike" u="none" sz="1300">
                <a:solidFill>
                  <a:srgbClr val="505050"/>
                </a:solidFill>
                <a:latin typeface="Noto Sans SC"/>
                <a:ea typeface="Noto Sans SC"/>
                <a:cs typeface="Noto Sans SC"/>
                <a:sym typeface="Noto Sans SC"/>
              </a:rPr>
              <a:t>Focus on Task Completion rate, Argument Correctness, and Plan-related measures for system performance.</a:t>
            </a:r>
            <a:endParaRPr lang="en-US" sz="1100"/>
          </a:p>
        </p:txBody>
      </p:sp>
      <p:sp>
        <p:nvSpPr>
          <p:cNvPr name="AutoShape 12" id="12"/>
          <p:cNvSpPr/>
          <p:nvPr/>
        </p:nvSpPr>
        <p:spPr>
          <a:xfrm rot="0" flipH="false" flipV="false">
            <a:off x="8128000" y="1524000"/>
            <a:ext cx="3302000" cy="2286000"/>
          </a:xfrm>
          <a:prstGeom prst="roundRect">
            <a:avLst>
              <a:gd name="adj" fmla="val 5555"/>
            </a:avLst>
          </a:prstGeom>
          <a:solidFill>
            <a:srgbClr val="F8F9FA">
              <a:alpha val="100000"/>
            </a:srgbClr>
          </a:solidFill>
          <a:ln w="12700" cmpd="sng" cap="flat">
            <a:solidFill>
              <a:srgbClr val="DCDCDC">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75800" y="1714500"/>
            <a:ext cx="406400" cy="406400"/>
          </a:xfrm>
          <a:prstGeom prst="rect">
            <a:avLst/>
          </a:prstGeom>
        </p:spPr>
      </p:pic>
      <p:sp>
        <p:nvSpPr>
          <p:cNvPr name="AutoShape 14" id="14"/>
          <p:cNvSpPr/>
          <p:nvPr/>
        </p:nvSpPr>
        <p:spPr>
          <a:xfrm rot="0" flipH="false" flipV="false">
            <a:off x="8255000" y="2222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34495E"/>
                </a:solidFill>
                <a:latin typeface="Noto Sans SC"/>
                <a:ea typeface="Noto Sans SC"/>
                <a:cs typeface="Noto Sans SC"/>
                <a:sym typeface="Noto Sans SC"/>
              </a:rPr>
              <a:t>Bug Quantification</a:t>
            </a:r>
            <a:endParaRPr lang="en-US" sz="1100"/>
          </a:p>
        </p:txBody>
      </p:sp>
      <p:sp>
        <p:nvSpPr>
          <p:cNvPr name="AutoShape 15" id="15"/>
          <p:cNvSpPr/>
          <p:nvPr/>
        </p:nvSpPr>
        <p:spPr>
          <a:xfrm rot="0" flipH="false" flipV="false">
            <a:off x="8255000" y="2667000"/>
            <a:ext cx="3048000" cy="1016000"/>
          </a:xfrm>
          <a:prstGeom prst="rect">
            <a:avLst/>
          </a:prstGeom>
          <a:noFill/>
          <a:ln w="12700" cmpd="sng" cap="flat">
            <a:noFill/>
            <a:prstDash val="solid"/>
            <a:round/>
          </a:ln>
        </p:spPr>
        <p:txBody>
          <a:bodyPr anchor="t" rtlCol="false" anchorCtr="false" vert="horz" wrap="square" lIns="0" rIns="0" tIns="0" bIns="0"/>
          <a:lstStyle/>
          <a:p>
            <a:pPr algn="just" indent="0">
              <a:lnSpc>
                <a:spcPct val="100000"/>
              </a:lnSpc>
              <a:defRPr/>
            </a:pPr>
            <a:r>
              <a:rPr lang="en-US" b="false" i="false" strike="noStrike" u="none" sz="1300">
                <a:solidFill>
                  <a:srgbClr val="505050"/>
                </a:solidFill>
                <a:latin typeface="Noto Sans SC"/>
                <a:ea typeface="Noto Sans SC"/>
                <a:cs typeface="Noto Sans SC"/>
                <a:sym typeface="Noto Sans SC"/>
              </a:rPr>
              <a:t>Addressing the challenge through rubric-based evaluation to enable nuanced and detailed assessment.</a:t>
            </a:r>
            <a:endParaRPr lang="en-US" sz="1100"/>
          </a:p>
        </p:txBody>
      </p:sp>
      <p:sp>
        <p:nvSpPr>
          <p:cNvPr name="AutoShape 16" id="16"/>
          <p:cNvSpPr/>
          <p:nvPr/>
        </p:nvSpPr>
        <p:spPr>
          <a:xfrm rot="0" flipH="false" flipV="false">
            <a:off x="762000" y="4191000"/>
            <a:ext cx="10668000" cy="12700"/>
          </a:xfrm>
          <a:prstGeom prst="roundRect">
            <a:avLst>
              <a:gd name="adj" fmla="val 0"/>
            </a:avLst>
          </a:prstGeom>
          <a:solidFill>
            <a:srgbClr val="E6E6E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791200" y="4445000"/>
            <a:ext cx="609600" cy="609600"/>
          </a:xfrm>
          <a:prstGeom prst="rect">
            <a:avLst/>
          </a:prstGeom>
        </p:spPr>
      </p:pic>
      <p:sp>
        <p:nvSpPr>
          <p:cNvPr name="AutoShape 18" id="18"/>
          <p:cNvSpPr/>
          <p:nvPr/>
        </p:nvSpPr>
        <p:spPr>
          <a:xfrm rot="0" flipH="false" flipV="false">
            <a:off x="1016000" y="5207000"/>
            <a:ext cx="1016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34495E"/>
                </a:solidFill>
                <a:latin typeface="Noto Sans SC"/>
                <a:ea typeface="Noto Sans SC"/>
                <a:cs typeface="Noto Sans SC"/>
                <a:sym typeface="Noto Sans SC"/>
              </a:rPr>
              <a:t>Thank You for Listening!</a:t>
            </a:r>
            <a:endParaRPr lang="en-US" sz="1100"/>
          </a:p>
        </p:txBody>
      </p:sp>
      <p:sp>
        <p:nvSpPr>
          <p:cNvPr name="AutoShape 19" id="19"/>
          <p:cNvSpPr/>
          <p:nvPr/>
        </p:nvSpPr>
        <p:spPr>
          <a:xfrm rot="0" flipH="false" flipV="false">
            <a:off x="1016000" y="58420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787878"/>
                </a:solidFill>
                <a:latin typeface="Noto Sans SC"/>
                <a:ea typeface="Noto Sans SC"/>
                <a:cs typeface="Noto Sans SC"/>
                <a:sym typeface="Noto Sans SC"/>
              </a:rPr>
              <a:t>Any questions or discussions are welcome.</a:t>
            </a:r>
            <a:endParaRPr lang="en-US" sz="1100"/>
          </a:p>
        </p:txBody>
      </p:sp>
      <p:sp>
        <p:nvSpPr>
          <p:cNvPr name="AutoShape 20" id="20"/>
          <p:cNvSpPr/>
          <p:nvPr/>
        </p:nvSpPr>
        <p:spPr>
          <a:xfrm rot="0" flipH="false" flipV="false">
            <a:off x="0" y="6781800"/>
            <a:ext cx="12192000" cy="76200"/>
          </a:xfrm>
          <a:prstGeom prst="roundRect">
            <a:avLst>
              <a:gd name="adj" fmla="val 0"/>
            </a:avLst>
          </a:prstGeom>
          <a:solidFill>
            <a:srgbClr val="C0392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